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37">
            <a:extLst>
              <a:ext uri="{FF2B5EF4-FFF2-40B4-BE49-F238E27FC236}">
                <a16:creationId xmlns:a16="http://schemas.microsoft.com/office/drawing/2014/main" id="{FAA5EE62-C7D7-47C1-81B7-0F2E57480B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B24249E-E51E-4A80-85EC-C25EB9CFB6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A053485-8E5A-4F42-A933-CF9E38260ADA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4E30CA3-06C7-4F8C-B6DC-A1A639E6E36B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5334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ATMCargoSoft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AC8D561-18B8-4613-95CE-303491CBD20E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657225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El sistema operativo para agencias de</a:t>
            </a:r>
          </a:p>
          <a:p>
            <a:pPr algn="l">
              <a:defRPr sz="34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carga regionales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D4F9C4B-9DFC-4B0A-8B21-B0B94C60144F}"/>
              </a:ext>
            </a:extLst>
          </p:cNvPr>
          <p:cNvSpPr>
            <a:spLocks noGrp="1"/>
          </p:cNvSpPr>
          <p:nvPr/>
        </p:nvSpPr>
        <p:spPr>
          <a:xfrm>
            <a:off x="704850" y="3048000"/>
            <a:ext cx="6953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9D7D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9D7DF"/>
                </a:solidFill>
                <a:latin typeface="Aptos"/>
                <a:ea typeface="Aptos"/>
                <a:cs typeface="Aptos"/>
              </a:rPr>
              <a:t>CRM, cotizaciones, operaciones, documentos, costos, facturacion y control financiero en un solo flujo.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9C9FE90-3EDF-4628-8CC1-7EF750FEEC9A}"/>
              </a:ext>
            </a:extLst>
          </p:cNvPr>
          <p:cNvSpPr>
            <a:spLocks noGrp="1"/>
          </p:cNvSpPr>
          <p:nvPr/>
        </p:nvSpPr>
        <p:spPr>
          <a:xfrm>
            <a:off x="8096250" y="914400"/>
            <a:ext cx="2952750" cy="4095750"/>
          </a:xfrm>
          <a:prstGeom prst="rect">
            <a:avLst/>
          </a:prstGeom>
          <a:solidFill>
            <a:srgbClr val="132B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67EC24-DCB9-418B-89A7-54A6F5F51915}"/>
              </a:ext>
            </a:extLst>
          </p:cNvPr>
          <p:cNvSpPr>
            <a:spLocks noGrp="1"/>
          </p:cNvSpPr>
          <p:nvPr/>
        </p:nvSpPr>
        <p:spPr>
          <a:xfrm>
            <a:off x="8496300" y="1238250"/>
            <a:ext cx="247650" cy="24765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15C0576-BE5A-46C1-A5D6-D745B1240E70}"/>
              </a:ext>
            </a:extLst>
          </p:cNvPr>
          <p:cNvSpPr>
            <a:spLocks noGrp="1"/>
          </p:cNvSpPr>
          <p:nvPr/>
        </p:nvSpPr>
        <p:spPr>
          <a:xfrm>
            <a:off x="8896350" y="12573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Prospecto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002E258-713E-45F4-A1AD-45741ED3D06D}"/>
              </a:ext>
            </a:extLst>
          </p:cNvPr>
          <p:cNvSpPr>
            <a:spLocks noGrp="1"/>
          </p:cNvSpPr>
          <p:nvPr/>
        </p:nvSpPr>
        <p:spPr>
          <a:xfrm>
            <a:off x="8610600" y="1524000"/>
            <a:ext cx="19050" cy="228600"/>
          </a:xfrm>
          <a:prstGeom prst="rect">
            <a:avLst/>
          </a:prstGeom>
          <a:solidFill>
            <a:srgbClr val="557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3157DCA-0C21-4757-B84F-88EDD64A3EF0}"/>
              </a:ext>
            </a:extLst>
          </p:cNvPr>
          <p:cNvSpPr>
            <a:spLocks noGrp="1"/>
          </p:cNvSpPr>
          <p:nvPr/>
        </p:nvSpPr>
        <p:spPr>
          <a:xfrm>
            <a:off x="8496300" y="1752600"/>
            <a:ext cx="247650" cy="2476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AC6C7CA-EBEC-4B63-B480-B89311867766}"/>
              </a:ext>
            </a:extLst>
          </p:cNvPr>
          <p:cNvSpPr>
            <a:spLocks noGrp="1"/>
          </p:cNvSpPr>
          <p:nvPr/>
        </p:nvSpPr>
        <p:spPr>
          <a:xfrm>
            <a:off x="8896350" y="17716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Cotizacion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FDDB0C0-380D-43BC-8C55-861834FBD691}"/>
              </a:ext>
            </a:extLst>
          </p:cNvPr>
          <p:cNvSpPr>
            <a:spLocks noGrp="1"/>
          </p:cNvSpPr>
          <p:nvPr/>
        </p:nvSpPr>
        <p:spPr>
          <a:xfrm>
            <a:off x="8610600" y="2038350"/>
            <a:ext cx="19050" cy="228600"/>
          </a:xfrm>
          <a:prstGeom prst="rect">
            <a:avLst/>
          </a:prstGeom>
          <a:solidFill>
            <a:srgbClr val="557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6C4D754-B8FA-40A5-A8C5-14ED5C9302E2}"/>
              </a:ext>
            </a:extLst>
          </p:cNvPr>
          <p:cNvSpPr>
            <a:spLocks noGrp="1"/>
          </p:cNvSpPr>
          <p:nvPr/>
        </p:nvSpPr>
        <p:spPr>
          <a:xfrm>
            <a:off x="8496300" y="2266950"/>
            <a:ext cx="247650" cy="24765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092E0A3-9679-44D1-859F-ADD44BB4815C}"/>
              </a:ext>
            </a:extLst>
          </p:cNvPr>
          <p:cNvSpPr>
            <a:spLocks noGrp="1"/>
          </p:cNvSpPr>
          <p:nvPr/>
        </p:nvSpPr>
        <p:spPr>
          <a:xfrm>
            <a:off x="8896350" y="22860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Operacion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A607893-90C8-475C-AA4C-F9B276201102}"/>
              </a:ext>
            </a:extLst>
          </p:cNvPr>
          <p:cNvSpPr>
            <a:spLocks noGrp="1"/>
          </p:cNvSpPr>
          <p:nvPr/>
        </p:nvSpPr>
        <p:spPr>
          <a:xfrm>
            <a:off x="8610600" y="2552700"/>
            <a:ext cx="19050" cy="228600"/>
          </a:xfrm>
          <a:prstGeom prst="rect">
            <a:avLst/>
          </a:prstGeom>
          <a:solidFill>
            <a:srgbClr val="557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8758CA9-9401-4E42-9271-775BF7608227}"/>
              </a:ext>
            </a:extLst>
          </p:cNvPr>
          <p:cNvSpPr>
            <a:spLocks noGrp="1"/>
          </p:cNvSpPr>
          <p:nvPr/>
        </p:nvSpPr>
        <p:spPr>
          <a:xfrm>
            <a:off x="8496300" y="2781300"/>
            <a:ext cx="247650" cy="2476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2FCEA9F-975A-4B34-B775-97F1B6D131EB}"/>
              </a:ext>
            </a:extLst>
          </p:cNvPr>
          <p:cNvSpPr>
            <a:spLocks noGrp="1"/>
          </p:cNvSpPr>
          <p:nvPr/>
        </p:nvSpPr>
        <p:spPr>
          <a:xfrm>
            <a:off x="8896350" y="28003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Documentos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8EDDB05-B0C9-482C-B8AA-5E9C1D26ADB1}"/>
              </a:ext>
            </a:extLst>
          </p:cNvPr>
          <p:cNvSpPr>
            <a:spLocks noGrp="1"/>
          </p:cNvSpPr>
          <p:nvPr/>
        </p:nvSpPr>
        <p:spPr>
          <a:xfrm>
            <a:off x="8610600" y="3067050"/>
            <a:ext cx="19050" cy="228600"/>
          </a:xfrm>
          <a:prstGeom prst="rect">
            <a:avLst/>
          </a:prstGeom>
          <a:solidFill>
            <a:srgbClr val="557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D0A0CC8-FC00-4B65-BF15-71282072A876}"/>
              </a:ext>
            </a:extLst>
          </p:cNvPr>
          <p:cNvSpPr>
            <a:spLocks noGrp="1"/>
          </p:cNvSpPr>
          <p:nvPr/>
        </p:nvSpPr>
        <p:spPr>
          <a:xfrm>
            <a:off x="8496300" y="3295650"/>
            <a:ext cx="247650" cy="24765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B4F06CB-3740-430F-9214-C644898677E3}"/>
              </a:ext>
            </a:extLst>
          </p:cNvPr>
          <p:cNvSpPr>
            <a:spLocks noGrp="1"/>
          </p:cNvSpPr>
          <p:nvPr/>
        </p:nvSpPr>
        <p:spPr>
          <a:xfrm>
            <a:off x="8896350" y="33147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Gastos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A59C62D-061B-49D9-8B32-629F63113A0D}"/>
              </a:ext>
            </a:extLst>
          </p:cNvPr>
          <p:cNvSpPr>
            <a:spLocks noGrp="1"/>
          </p:cNvSpPr>
          <p:nvPr/>
        </p:nvSpPr>
        <p:spPr>
          <a:xfrm>
            <a:off x="8610600" y="3581400"/>
            <a:ext cx="19050" cy="228600"/>
          </a:xfrm>
          <a:prstGeom prst="rect">
            <a:avLst/>
          </a:prstGeom>
          <a:solidFill>
            <a:srgbClr val="557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0B273C1-8F41-4F74-908C-71A1554855DB}"/>
              </a:ext>
            </a:extLst>
          </p:cNvPr>
          <p:cNvSpPr>
            <a:spLocks noGrp="1"/>
          </p:cNvSpPr>
          <p:nvPr/>
        </p:nvSpPr>
        <p:spPr>
          <a:xfrm>
            <a:off x="8496300" y="3810000"/>
            <a:ext cx="247650" cy="2476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22D8934-04BE-422A-BF6B-1E372CCCF69B}"/>
              </a:ext>
            </a:extLst>
          </p:cNvPr>
          <p:cNvSpPr>
            <a:spLocks noGrp="1"/>
          </p:cNvSpPr>
          <p:nvPr/>
        </p:nvSpPr>
        <p:spPr>
          <a:xfrm>
            <a:off x="8896350" y="38290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Factura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FDC69AB-E7F5-4E84-882E-BD57C6B31541}"/>
              </a:ext>
            </a:extLst>
          </p:cNvPr>
          <p:cNvSpPr>
            <a:spLocks noGrp="1"/>
          </p:cNvSpPr>
          <p:nvPr/>
        </p:nvSpPr>
        <p:spPr>
          <a:xfrm>
            <a:off x="8610600" y="4095750"/>
            <a:ext cx="19050" cy="228600"/>
          </a:xfrm>
          <a:prstGeom prst="rect">
            <a:avLst/>
          </a:prstGeom>
          <a:solidFill>
            <a:srgbClr val="557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4757301-2EFD-429D-90A2-1D5866E658F8}"/>
              </a:ext>
            </a:extLst>
          </p:cNvPr>
          <p:cNvSpPr>
            <a:spLocks noGrp="1"/>
          </p:cNvSpPr>
          <p:nvPr/>
        </p:nvSpPr>
        <p:spPr>
          <a:xfrm>
            <a:off x="8496300" y="4324350"/>
            <a:ext cx="247650" cy="24765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C5C2479-C267-48DA-A8E0-049DFF8999D6}"/>
              </a:ext>
            </a:extLst>
          </p:cNvPr>
          <p:cNvSpPr>
            <a:spLocks noGrp="1"/>
          </p:cNvSpPr>
          <p:nvPr/>
        </p:nvSpPr>
        <p:spPr>
          <a:xfrm>
            <a:off x="8896350" y="43434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Cobro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B46AEDB-895C-461F-BEB3-EBB62170C772}"/>
              </a:ext>
            </a:extLst>
          </p:cNvPr>
          <p:cNvSpPr>
            <a:spLocks noGrp="1"/>
          </p:cNvSpPr>
          <p:nvPr/>
        </p:nvSpPr>
        <p:spPr>
          <a:xfrm>
            <a:off x="666750" y="434340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1 flujo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9ED133D-5711-4C45-A2B7-8FC00D9B7EB3}"/>
              </a:ext>
            </a:extLst>
          </p:cNvPr>
          <p:cNvSpPr>
            <a:spLocks noGrp="1"/>
          </p:cNvSpPr>
          <p:nvPr/>
        </p:nvSpPr>
        <p:spPr>
          <a:xfrm>
            <a:off x="666750" y="47434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de venta a rentabilidad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5AF14BE-31FD-4F66-B265-B6FBDD3F3C3D}"/>
              </a:ext>
            </a:extLst>
          </p:cNvPr>
          <p:cNvSpPr>
            <a:spLocks noGrp="1"/>
          </p:cNvSpPr>
          <p:nvPr/>
        </p:nvSpPr>
        <p:spPr>
          <a:xfrm>
            <a:off x="3143250" y="4343400"/>
            <a:ext cx="247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3A7D6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A7D6A"/>
                </a:solidFill>
                <a:latin typeface="Aptos"/>
                <a:ea typeface="Aptos"/>
                <a:cs typeface="Aptos"/>
              </a:rPr>
              <a:t>4 areas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DD80A11-1559-4B0A-A54E-98D9FE91A7B6}"/>
              </a:ext>
            </a:extLst>
          </p:cNvPr>
          <p:cNvSpPr>
            <a:spLocks noGrp="1"/>
          </p:cNvSpPr>
          <p:nvPr/>
        </p:nvSpPr>
        <p:spPr>
          <a:xfrm>
            <a:off x="3143250" y="474345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ventas, ops, admin y finanzas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91966E2-61B6-4159-AF76-9AB2111AAC02}"/>
              </a:ext>
            </a:extLst>
          </p:cNvPr>
          <p:cNvSpPr>
            <a:spLocks noGrp="1"/>
          </p:cNvSpPr>
          <p:nvPr/>
        </p:nvSpPr>
        <p:spPr>
          <a:xfrm>
            <a:off x="5905500" y="4343400"/>
            <a:ext cx="228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B9C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AB9CC"/>
                </a:solidFill>
                <a:latin typeface="Aptos"/>
                <a:ea typeface="Aptos"/>
                <a:cs typeface="Aptos"/>
              </a:rPr>
              <a:t>12 modulos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CF35F42-3BE3-4C17-BEE9-AABA54CBFA7F}"/>
              </a:ext>
            </a:extLst>
          </p:cNvPr>
          <p:cNvSpPr>
            <a:spLocks noGrp="1"/>
          </p:cNvSpPr>
          <p:nvPr/>
        </p:nvSpPr>
        <p:spPr>
          <a:xfrm>
            <a:off x="5905500" y="4743450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conectados por operacion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6B1975A-B538-4CC0-B87C-D3ECD90681F6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FA3B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A3B0"/>
                </a:solidFill>
                <a:latin typeface="Aptos"/>
                <a:ea typeface="Aptos"/>
                <a:cs typeface="Aptos"/>
              </a:rPr>
              <a:t>Basado en capacidades inspeccionadas del proyecto: pipeline, operaciones, cost sheet, facturacion, compras, reportes, container y servicio.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BF5CCE3-D6DB-46C1-94B4-E40FB92F8C26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2C3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C991E3E-8261-46DA-8036-0FD9B4A790B7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A3B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A3B0"/>
                </a:solidFill>
                <a:latin typeface="Aptos"/>
                <a:ea typeface="Aptos"/>
                <a:cs typeface="Aptos"/>
              </a:rPr>
              <a:t>ATMCargoSoft | Presentacion comercial para agencias de carga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6E1430E-1F47-45B0-B1A6-05E80C8BEC28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E9F1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F1F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5376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48B3A233-A9D2-4244-9FB8-36DBF23730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2335456-F844-4D3F-A2BB-0F193DBBBA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3CD8744-1D2C-457A-9EE6-438151C4ADD6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5E38613-6589-4997-A7E2-96899EB35449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F09A2613-3DDD-4B2D-8A16-F017D1D53CA2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DOLOR DEL CLIENTE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892FF-0E25-45DC-BAAD-722BA5AA5A23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382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La agencia pierde margen cuando la informacion vive en demasiados lugares.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37ABBE6-EEF9-467A-A566-682D9DBD6E0F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El problema no es solo operativo: cada copia manual termina afectando velocidad, trazabilidad y rentabilidad.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7045BF-2559-48DC-AE8C-66B76570E3EF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2266950" cy="1885950"/>
          </a:xfrm>
          <a:prstGeom prst="rect">
            <a:avLst/>
          </a:prstGeom>
          <a:solidFill>
            <a:srgbClr val="EEF3F4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F1239F7-5E01-445D-9833-688EC3C20718}"/>
              </a:ext>
            </a:extLst>
          </p:cNvPr>
          <p:cNvSpPr>
            <a:spLocks noGrp="1"/>
          </p:cNvSpPr>
          <p:nvPr/>
        </p:nvSpPr>
        <p:spPr>
          <a:xfrm>
            <a:off x="990600" y="30289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Ventas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73F7EBC-2DC0-4711-A661-E06B26FD5D1D}"/>
              </a:ext>
            </a:extLst>
          </p:cNvPr>
          <p:cNvSpPr>
            <a:spLocks noGrp="1"/>
          </p:cNvSpPr>
          <p:nvPr/>
        </p:nvSpPr>
        <p:spPr>
          <a:xfrm>
            <a:off x="990600" y="3409950"/>
            <a:ext cx="6667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A461452-C9DF-4827-AD79-4A560A93431E}"/>
              </a:ext>
            </a:extLst>
          </p:cNvPr>
          <p:cNvSpPr>
            <a:spLocks noGrp="1"/>
          </p:cNvSpPr>
          <p:nvPr/>
        </p:nvSpPr>
        <p:spPr>
          <a:xfrm>
            <a:off x="990600" y="3676650"/>
            <a:ext cx="17621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Prospectos, llamadas, recordatorios y cotizaciones quedan aislados del avance real.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5200FB9-FB45-4FAB-A730-F730212A054A}"/>
              </a:ext>
            </a:extLst>
          </p:cNvPr>
          <p:cNvSpPr>
            <a:spLocks noGrp="1"/>
          </p:cNvSpPr>
          <p:nvPr/>
        </p:nvSpPr>
        <p:spPr>
          <a:xfrm>
            <a:off x="3495675" y="2781300"/>
            <a:ext cx="2266950" cy="188595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8DE7AD2-AED3-4EE8-9481-8F87207305AD}"/>
              </a:ext>
            </a:extLst>
          </p:cNvPr>
          <p:cNvSpPr>
            <a:spLocks noGrp="1"/>
          </p:cNvSpPr>
          <p:nvPr/>
        </p:nvSpPr>
        <p:spPr>
          <a:xfrm>
            <a:off x="3705225" y="30289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Operaciones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B5048B8-1D24-4B20-8ABC-CB341FD43C5D}"/>
              </a:ext>
            </a:extLst>
          </p:cNvPr>
          <p:cNvSpPr>
            <a:spLocks noGrp="1"/>
          </p:cNvSpPr>
          <p:nvPr/>
        </p:nvSpPr>
        <p:spPr>
          <a:xfrm>
            <a:off x="3705225" y="3409950"/>
            <a:ext cx="666750" cy="28575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D55B906-E395-4083-9C73-2E8AB4DD10BC}"/>
              </a:ext>
            </a:extLst>
          </p:cNvPr>
          <p:cNvSpPr>
            <a:spLocks noGrp="1"/>
          </p:cNvSpPr>
          <p:nvPr/>
        </p:nvSpPr>
        <p:spPr>
          <a:xfrm>
            <a:off x="3705225" y="3676650"/>
            <a:ext cx="17621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Fechas, documentos, carriers, proveedores y seguimiento se actualizan a mano.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C93B697-E052-413C-9765-19077866A20F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2266950" cy="1885950"/>
          </a:xfrm>
          <a:prstGeom prst="rect">
            <a:avLst/>
          </a:prstGeom>
          <a:solidFill>
            <a:srgbClr val="EEF3F4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95ED314-FF47-41EF-9DAF-462597D8FF4D}"/>
              </a:ext>
            </a:extLst>
          </p:cNvPr>
          <p:cNvSpPr>
            <a:spLocks noGrp="1"/>
          </p:cNvSpPr>
          <p:nvPr/>
        </p:nvSpPr>
        <p:spPr>
          <a:xfrm>
            <a:off x="6419850" y="30289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Administracion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5F83997-702D-43C2-A98D-31018E2A06DD}"/>
              </a:ext>
            </a:extLst>
          </p:cNvPr>
          <p:cNvSpPr>
            <a:spLocks noGrp="1"/>
          </p:cNvSpPr>
          <p:nvPr/>
        </p:nvSpPr>
        <p:spPr>
          <a:xfrm>
            <a:off x="6419850" y="3409950"/>
            <a:ext cx="6667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B2245D6-CE3E-498D-B0EE-B42F1F951362}"/>
              </a:ext>
            </a:extLst>
          </p:cNvPr>
          <p:cNvSpPr>
            <a:spLocks noGrp="1"/>
          </p:cNvSpPr>
          <p:nvPr/>
        </p:nvSpPr>
        <p:spPr>
          <a:xfrm>
            <a:off x="6419850" y="3676650"/>
            <a:ext cx="17621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Compras, gastos y facturas aparecen tarde o sin relacion clara con la operacion.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FACC873-A06E-47B2-8A92-26773C002361}"/>
              </a:ext>
            </a:extLst>
          </p:cNvPr>
          <p:cNvSpPr>
            <a:spLocks noGrp="1"/>
          </p:cNvSpPr>
          <p:nvPr/>
        </p:nvSpPr>
        <p:spPr>
          <a:xfrm>
            <a:off x="8924925" y="2781300"/>
            <a:ext cx="2266950" cy="188595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5848F47-A25C-4A29-A7C9-2989F3A146F9}"/>
              </a:ext>
            </a:extLst>
          </p:cNvPr>
          <p:cNvSpPr>
            <a:spLocks noGrp="1"/>
          </p:cNvSpPr>
          <p:nvPr/>
        </p:nvSpPr>
        <p:spPr>
          <a:xfrm>
            <a:off x="9134475" y="30289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Direccion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47054F0-8D2F-4652-891C-C43882708C2D}"/>
              </a:ext>
            </a:extLst>
          </p:cNvPr>
          <p:cNvSpPr>
            <a:spLocks noGrp="1"/>
          </p:cNvSpPr>
          <p:nvPr/>
        </p:nvSpPr>
        <p:spPr>
          <a:xfrm>
            <a:off x="9134475" y="3409950"/>
            <a:ext cx="6667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421E002-1EE3-4E03-9422-81E6165C665E}"/>
              </a:ext>
            </a:extLst>
          </p:cNvPr>
          <p:cNvSpPr>
            <a:spLocks noGrp="1"/>
          </p:cNvSpPr>
          <p:nvPr/>
        </p:nvSpPr>
        <p:spPr>
          <a:xfrm>
            <a:off x="9134475" y="3676650"/>
            <a:ext cx="17621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El margen se conoce despues, no durante la ejecucion.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7C75CC6-132C-4DD7-B044-A0C9814A247B}"/>
              </a:ext>
            </a:extLst>
          </p:cNvPr>
          <p:cNvSpPr>
            <a:spLocks noGrp="1"/>
          </p:cNvSpPr>
          <p:nvPr/>
        </p:nvSpPr>
        <p:spPr>
          <a:xfrm>
            <a:off x="2343150" y="51911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Resultado: mas retrabajo, menos visibilidad y decisiones tardias.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5764428-BC13-42E1-9B5A-8B030935D43F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862718A-BCFC-4A15-AC92-14EC3C1EE9C0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ATMCargoSoft | Presentacion comercial para agencias de carga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F416F13-9A63-4434-A3DA-AAC69F56A390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0567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03069DA4-AEB7-4638-93E1-D9935F2F03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BD58D7A-7D11-4A60-9C00-5051AAB2AD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A4FD01F-CB0B-4835-9AF0-BE16F2EB8988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19B53A8-2308-4A99-8AD8-AA44151E0EE5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22D710B2-16C6-4D50-A64A-D7A8DB93BBD4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SOLUCION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87D0B02-680D-456E-BE24-2C644075B089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7905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 dirty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ATM</a:t>
            </a:r>
            <a:r>
              <a:rPr lang="es-ES" sz="2850" b="0" dirty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CARGOSOFT</a:t>
            </a:r>
            <a:r>
              <a:rPr sz="2850" b="0" dirty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850" b="0" dirty="0" err="1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conecta</a:t>
            </a:r>
            <a:r>
              <a:rPr sz="2850" b="0" dirty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850" b="0" dirty="0" err="1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el</a:t>
            </a:r>
            <a:r>
              <a:rPr sz="2850" b="0" dirty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850" b="0" dirty="0" err="1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ciclo</a:t>
            </a:r>
            <a:r>
              <a:rPr sz="2850" b="0" dirty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850" b="0" dirty="0" err="1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completo</a:t>
            </a:r>
            <a:r>
              <a:rPr sz="2850" b="0" dirty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, </a:t>
            </a:r>
            <a:r>
              <a:rPr sz="2850" b="0" dirty="0" err="1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desde</a:t>
            </a:r>
            <a:r>
              <a:rPr sz="2850" b="0" dirty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850" b="0" dirty="0" err="1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prospecto</a:t>
            </a:r>
            <a:r>
              <a:rPr sz="2850" b="0" dirty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 hasta </a:t>
            </a:r>
            <a:r>
              <a:rPr sz="2850" b="0" dirty="0" err="1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cobro</a:t>
            </a:r>
            <a:r>
              <a:rPr sz="2850" b="0" dirty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59986D0-F822-476D-B7C0-62E9DCC159C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La operacion deja de ser una sucesion de archivos y pasa a ser un expediente vivo con responsables, documentos, costos y estados.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617D077-46B3-4361-87CB-9DB25FFE28C1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2133600" cy="1238250"/>
          </a:xfrm>
          <a:prstGeom prst="rect">
            <a:avLst/>
          </a:prstGeom>
          <a:solidFill>
            <a:srgbClr val="EDF4F3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A8B0EA5-BDA9-4763-B3F2-37E73D6FAAB5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47625" cy="123825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64E80F2-1BFC-49A9-A1F4-45C78BA466D1}"/>
              </a:ext>
            </a:extLst>
          </p:cNvPr>
          <p:cNvSpPr>
            <a:spLocks noGrp="1"/>
          </p:cNvSpPr>
          <p:nvPr/>
        </p:nvSpPr>
        <p:spPr>
          <a:xfrm>
            <a:off x="990600" y="31337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CRM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FD05DF2-1FEC-45F8-836C-F8E7B8AC7C60}"/>
              </a:ext>
            </a:extLst>
          </p:cNvPr>
          <p:cNvSpPr>
            <a:spLocks noGrp="1"/>
          </p:cNvSpPr>
          <p:nvPr/>
        </p:nvSpPr>
        <p:spPr>
          <a:xfrm>
            <a:off x="990600" y="3409950"/>
            <a:ext cx="180975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Pipeline, clientes, contactos y seguimiento comercial.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2D25F6F-FB31-4426-9D37-948625F05EBC}"/>
              </a:ext>
            </a:extLst>
          </p:cNvPr>
          <p:cNvSpPr>
            <a:spLocks noGrp="1"/>
          </p:cNvSpPr>
          <p:nvPr/>
        </p:nvSpPr>
        <p:spPr>
          <a:xfrm>
            <a:off x="3009900" y="3609975"/>
            <a:ext cx="285750" cy="1905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riángulo isósceles 12">
            <a:extLst>
              <a:ext uri="{FF2B5EF4-FFF2-40B4-BE49-F238E27FC236}">
                <a16:creationId xmlns:a16="http://schemas.microsoft.com/office/drawing/2014/main" id="{297220C8-E3F0-4BAB-BB4D-4E3F537FE825}"/>
              </a:ext>
            </a:extLst>
          </p:cNvPr>
          <p:cNvSpPr>
            <a:spLocks noGrp="1"/>
          </p:cNvSpPr>
          <p:nvPr/>
        </p:nvSpPr>
        <p:spPr>
          <a:xfrm>
            <a:off x="3276600" y="3562350"/>
            <a:ext cx="114300" cy="114300"/>
          </a:xfrm>
          <a:prstGeom prst="triangle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586C89A-0C05-469F-86EA-044BF848C038}"/>
              </a:ext>
            </a:extLst>
          </p:cNvPr>
          <p:cNvSpPr>
            <a:spLocks noGrp="1"/>
          </p:cNvSpPr>
          <p:nvPr/>
        </p:nvSpPr>
        <p:spPr>
          <a:xfrm>
            <a:off x="3505200" y="2990850"/>
            <a:ext cx="2133600" cy="123825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99947E1-0957-459C-AB46-7616373D5B4D}"/>
              </a:ext>
            </a:extLst>
          </p:cNvPr>
          <p:cNvSpPr>
            <a:spLocks noGrp="1"/>
          </p:cNvSpPr>
          <p:nvPr/>
        </p:nvSpPr>
        <p:spPr>
          <a:xfrm>
            <a:off x="3505200" y="2990850"/>
            <a:ext cx="47625" cy="12382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5919FDE-5095-4866-8AA8-90F1123867AA}"/>
              </a:ext>
            </a:extLst>
          </p:cNvPr>
          <p:cNvSpPr>
            <a:spLocks noGrp="1"/>
          </p:cNvSpPr>
          <p:nvPr/>
        </p:nvSpPr>
        <p:spPr>
          <a:xfrm>
            <a:off x="3676650" y="31337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Cotizacion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B94BB14-41A9-49AC-9C23-19B64AB069C5}"/>
              </a:ext>
            </a:extLst>
          </p:cNvPr>
          <p:cNvSpPr>
            <a:spLocks noGrp="1"/>
          </p:cNvSpPr>
          <p:nvPr/>
        </p:nvSpPr>
        <p:spPr>
          <a:xfrm>
            <a:off x="3676650" y="3409950"/>
            <a:ext cx="180975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Plantillas, condiciones, items, PDF formal y revisiones.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5400732-A978-433E-B746-44FA1B4BCC39}"/>
              </a:ext>
            </a:extLst>
          </p:cNvPr>
          <p:cNvSpPr>
            <a:spLocks noGrp="1"/>
          </p:cNvSpPr>
          <p:nvPr/>
        </p:nvSpPr>
        <p:spPr>
          <a:xfrm>
            <a:off x="5695950" y="3609975"/>
            <a:ext cx="285750" cy="190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77BFA583-4E7F-4DC8-88A3-AC5F21242B1A}"/>
              </a:ext>
            </a:extLst>
          </p:cNvPr>
          <p:cNvSpPr>
            <a:spLocks noGrp="1"/>
          </p:cNvSpPr>
          <p:nvPr/>
        </p:nvSpPr>
        <p:spPr>
          <a:xfrm>
            <a:off x="5962650" y="3562350"/>
            <a:ext cx="114300" cy="114300"/>
          </a:xfrm>
          <a:prstGeom prst="triangle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AF5DB46-EA76-4A96-A14A-CF653F47CF2C}"/>
              </a:ext>
            </a:extLst>
          </p:cNvPr>
          <p:cNvSpPr>
            <a:spLocks noGrp="1"/>
          </p:cNvSpPr>
          <p:nvPr/>
        </p:nvSpPr>
        <p:spPr>
          <a:xfrm>
            <a:off x="6191250" y="2990850"/>
            <a:ext cx="2133600" cy="1238250"/>
          </a:xfrm>
          <a:prstGeom prst="rect">
            <a:avLst/>
          </a:prstGeom>
          <a:solidFill>
            <a:srgbClr val="EDF4F3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B38E2CD-CBB1-41D5-A8A3-F2C1848C8453}"/>
              </a:ext>
            </a:extLst>
          </p:cNvPr>
          <p:cNvSpPr>
            <a:spLocks noGrp="1"/>
          </p:cNvSpPr>
          <p:nvPr/>
        </p:nvSpPr>
        <p:spPr>
          <a:xfrm>
            <a:off x="6191250" y="2990850"/>
            <a:ext cx="47625" cy="123825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ECBC0EC-C0C6-4017-85F6-587C3A32F661}"/>
              </a:ext>
            </a:extLst>
          </p:cNvPr>
          <p:cNvSpPr>
            <a:spLocks noGrp="1"/>
          </p:cNvSpPr>
          <p:nvPr/>
        </p:nvSpPr>
        <p:spPr>
          <a:xfrm>
            <a:off x="6362700" y="31337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Operacion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F279214-F935-4323-A133-A4AEF1BECA59}"/>
              </a:ext>
            </a:extLst>
          </p:cNvPr>
          <p:cNvSpPr>
            <a:spLocks noGrp="1"/>
          </p:cNvSpPr>
          <p:nvPr/>
        </p:nvSpPr>
        <p:spPr>
          <a:xfrm>
            <a:off x="6362700" y="3409950"/>
            <a:ext cx="180975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Aereo, maritimo, terrestre y multimodal con datos logisticos.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200876C-6210-4B30-975C-0DBBC41BDCDE}"/>
              </a:ext>
            </a:extLst>
          </p:cNvPr>
          <p:cNvSpPr>
            <a:spLocks noGrp="1"/>
          </p:cNvSpPr>
          <p:nvPr/>
        </p:nvSpPr>
        <p:spPr>
          <a:xfrm>
            <a:off x="8382000" y="3609975"/>
            <a:ext cx="285750" cy="1905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riángulo isósceles 24">
            <a:extLst>
              <a:ext uri="{FF2B5EF4-FFF2-40B4-BE49-F238E27FC236}">
                <a16:creationId xmlns:a16="http://schemas.microsoft.com/office/drawing/2014/main" id="{DE1EE76F-0213-475B-860A-5BD32BE83D0C}"/>
              </a:ext>
            </a:extLst>
          </p:cNvPr>
          <p:cNvSpPr>
            <a:spLocks noGrp="1"/>
          </p:cNvSpPr>
          <p:nvPr/>
        </p:nvSpPr>
        <p:spPr>
          <a:xfrm>
            <a:off x="8648700" y="3562350"/>
            <a:ext cx="114300" cy="114300"/>
          </a:xfrm>
          <a:prstGeom prst="triangle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ED6DB53-9C96-47F7-9532-50171A3C5AF2}"/>
              </a:ext>
            </a:extLst>
          </p:cNvPr>
          <p:cNvSpPr>
            <a:spLocks noGrp="1"/>
          </p:cNvSpPr>
          <p:nvPr/>
        </p:nvSpPr>
        <p:spPr>
          <a:xfrm>
            <a:off x="8877300" y="2990850"/>
            <a:ext cx="2133600" cy="123825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C3BBFDA-8D3F-4362-9AF7-6039225DB049}"/>
              </a:ext>
            </a:extLst>
          </p:cNvPr>
          <p:cNvSpPr>
            <a:spLocks noGrp="1"/>
          </p:cNvSpPr>
          <p:nvPr/>
        </p:nvSpPr>
        <p:spPr>
          <a:xfrm>
            <a:off x="8877300" y="2990850"/>
            <a:ext cx="47625" cy="12382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790F4AD-99D2-419A-B20D-F837CDD983AC}"/>
              </a:ext>
            </a:extLst>
          </p:cNvPr>
          <p:cNvSpPr>
            <a:spLocks noGrp="1"/>
          </p:cNvSpPr>
          <p:nvPr/>
        </p:nvSpPr>
        <p:spPr>
          <a:xfrm>
            <a:off x="9048750" y="313372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6CCCA34-12DF-47A3-A372-4056577714DB}"/>
              </a:ext>
            </a:extLst>
          </p:cNvPr>
          <p:cNvSpPr>
            <a:spLocks noGrp="1"/>
          </p:cNvSpPr>
          <p:nvPr/>
        </p:nvSpPr>
        <p:spPr>
          <a:xfrm>
            <a:off x="9048750" y="3409950"/>
            <a:ext cx="1809750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Documentos, gastos, compras, facturas, pagos y reportes.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4E00BB4-747B-4DEF-9AF6-5536F498AE38}"/>
              </a:ext>
            </a:extLst>
          </p:cNvPr>
          <p:cNvSpPr>
            <a:spLocks noGrp="1"/>
          </p:cNvSpPr>
          <p:nvPr/>
        </p:nvSpPr>
        <p:spPr>
          <a:xfrm>
            <a:off x="1143000" y="4762500"/>
            <a:ext cx="3143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Un expediente por operacion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50F2B58-8EE9-4123-9059-DC470E39908D}"/>
              </a:ext>
            </a:extLst>
          </p:cNvPr>
          <p:cNvSpPr>
            <a:spLocks noGrp="1"/>
          </p:cNvSpPr>
          <p:nvPr/>
        </p:nvSpPr>
        <p:spPr>
          <a:xfrm>
            <a:off x="1143000" y="5124450"/>
            <a:ext cx="8858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Los datos comerciales alimentan la cotizacion; la cotizacion alimenta la operacion; la operacion alimenta administracion y gerencia.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5993499-D329-4980-9374-4824F31F3C5D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6BA362C-5B8B-429B-AD5E-49E435B83DCC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ATMCargoSoft | Presentacion comercial para agencias de carga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F0B633F-8DEF-436A-8AF9-6DA29C61CD34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0339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37">
            <a:extLst>
              <a:ext uri="{FF2B5EF4-FFF2-40B4-BE49-F238E27FC236}">
                <a16:creationId xmlns:a16="http://schemas.microsoft.com/office/drawing/2014/main" id="{F484CCF8-8CB1-49D3-AA57-86C5E95058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A0AF8F-BBB0-4462-881A-CF16EFB9D4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E1E2CF3-E7E2-460E-A1BC-FFE374B5AD84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5CFC1E-048E-42EB-A730-3BDFDF01B900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ABD3F0A2-2E89-48F8-9F33-F6F54CC5383B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MAPA DEL SISTEMA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E6F1D2A-419D-4D3D-83E4-1FCBE94A2C00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763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El sistema se organiza como una plataforma operativa, no como pantallas sueltas.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484B1DB-01F5-492D-A22C-0C1F91EAA03B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Cada modulo resuelve una parte del negocio y comparte contexto con el resto.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00830C-E889-4F3C-AC25-1DC915ADA72B}"/>
              </a:ext>
            </a:extLst>
          </p:cNvPr>
          <p:cNvSpPr>
            <a:spLocks noGrp="1"/>
          </p:cNvSpPr>
          <p:nvPr/>
        </p:nvSpPr>
        <p:spPr>
          <a:xfrm>
            <a:off x="4810125" y="2857500"/>
            <a:ext cx="2571750" cy="10287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8CF71FC-F75E-4A31-9546-DD760EA72DD5}"/>
              </a:ext>
            </a:extLst>
          </p:cNvPr>
          <p:cNvSpPr>
            <a:spLocks noGrp="1"/>
          </p:cNvSpPr>
          <p:nvPr/>
        </p:nvSpPr>
        <p:spPr>
          <a:xfrm>
            <a:off x="5095875" y="30861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Expediente unico de operacion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D12194C-7529-4547-940D-B14EC61D791D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8575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1B74869-BF42-4F10-A3C2-7F81B8B8CEC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47625" cy="10287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AA41CCB-070B-4D26-89E8-6C9CAE94E2F8}"/>
              </a:ext>
            </a:extLst>
          </p:cNvPr>
          <p:cNvSpPr>
            <a:spLocks noGrp="1"/>
          </p:cNvSpPr>
          <p:nvPr/>
        </p:nvSpPr>
        <p:spPr>
          <a:xfrm>
            <a:off x="1047750" y="244792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CRM y Pipeline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F25F1B2-6DF2-48B1-B2E8-E18DBBC9263B}"/>
              </a:ext>
            </a:extLst>
          </p:cNvPr>
          <p:cNvSpPr>
            <a:spLocks noGrp="1"/>
          </p:cNvSpPr>
          <p:nvPr/>
        </p:nvSpPr>
        <p:spPr>
          <a:xfrm>
            <a:off x="1047750" y="2724150"/>
            <a:ext cx="253365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Deals, etapas, actividad y alertas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6128D5E-341A-463A-9CDA-6B578B7B4E3B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28575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223A2FC-3EC2-4B41-BC00-42FDA2C3EB18}"/>
              </a:ext>
            </a:extLst>
          </p:cNvPr>
          <p:cNvSpPr>
            <a:spLocks noGrp="1"/>
          </p:cNvSpPr>
          <p:nvPr/>
        </p:nvSpPr>
        <p:spPr>
          <a:xfrm>
            <a:off x="876300" y="4191000"/>
            <a:ext cx="47625" cy="10287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BC7C6FD-A079-4D56-8001-C3A72B174F21}"/>
              </a:ext>
            </a:extLst>
          </p:cNvPr>
          <p:cNvSpPr>
            <a:spLocks noGrp="1"/>
          </p:cNvSpPr>
          <p:nvPr/>
        </p:nvSpPr>
        <p:spPr>
          <a:xfrm>
            <a:off x="1047750" y="433387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Cotizaciones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6384030-7E5D-43CC-8CEF-8FCF4BB1931C}"/>
              </a:ext>
            </a:extLst>
          </p:cNvPr>
          <p:cNvSpPr>
            <a:spLocks noGrp="1"/>
          </p:cNvSpPr>
          <p:nvPr/>
        </p:nvSpPr>
        <p:spPr>
          <a:xfrm>
            <a:off x="1047750" y="4610100"/>
            <a:ext cx="253365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PDF, revisiones, parametros y condiciones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7FCB334-537D-4C92-9D52-3911B2DBCF21}"/>
              </a:ext>
            </a:extLst>
          </p:cNvPr>
          <p:cNvSpPr>
            <a:spLocks noGrp="1"/>
          </p:cNvSpPr>
          <p:nvPr/>
        </p:nvSpPr>
        <p:spPr>
          <a:xfrm>
            <a:off x="8020050" y="2305050"/>
            <a:ext cx="28575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C4F2B96-F1FE-4D17-825F-745AA256A741}"/>
              </a:ext>
            </a:extLst>
          </p:cNvPr>
          <p:cNvSpPr>
            <a:spLocks noGrp="1"/>
          </p:cNvSpPr>
          <p:nvPr/>
        </p:nvSpPr>
        <p:spPr>
          <a:xfrm>
            <a:off x="8020050" y="2305050"/>
            <a:ext cx="47625" cy="102870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6FBC3DE-28F1-46F3-9FAF-F8C3B3B32F6B}"/>
              </a:ext>
            </a:extLst>
          </p:cNvPr>
          <p:cNvSpPr>
            <a:spLocks noGrp="1"/>
          </p:cNvSpPr>
          <p:nvPr/>
        </p:nvSpPr>
        <p:spPr>
          <a:xfrm>
            <a:off x="8191500" y="244792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Operacion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305A554-0705-4EDD-93C4-2BA6534E99A4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253365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Air, Ocean, Road y Multimodal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A59FABF-2905-4379-9EB6-0D6A3AFF7D9E}"/>
              </a:ext>
            </a:extLst>
          </p:cNvPr>
          <p:cNvSpPr>
            <a:spLocks noGrp="1"/>
          </p:cNvSpPr>
          <p:nvPr/>
        </p:nvSpPr>
        <p:spPr>
          <a:xfrm>
            <a:off x="8020050" y="4191000"/>
            <a:ext cx="28575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829439-5C87-42F5-8458-C6C481F4BFF0}"/>
              </a:ext>
            </a:extLst>
          </p:cNvPr>
          <p:cNvSpPr>
            <a:spLocks noGrp="1"/>
          </p:cNvSpPr>
          <p:nvPr/>
        </p:nvSpPr>
        <p:spPr>
          <a:xfrm>
            <a:off x="8020050" y="4191000"/>
            <a:ext cx="47625" cy="1028700"/>
          </a:xfrm>
          <a:prstGeom prst="rect">
            <a:avLst/>
          </a:prstGeom>
          <a:solidFill>
            <a:srgbClr val="D7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59FED2D-A3A9-44C1-B2A2-2EAEBA06D40E}"/>
              </a:ext>
            </a:extLst>
          </p:cNvPr>
          <p:cNvSpPr>
            <a:spLocks noGrp="1"/>
          </p:cNvSpPr>
          <p:nvPr/>
        </p:nvSpPr>
        <p:spPr>
          <a:xfrm>
            <a:off x="8191500" y="433387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Finanzas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BDEBB48-9BEC-4EE2-BB4E-098F170F4B6C}"/>
              </a:ext>
            </a:extLst>
          </p:cNvPr>
          <p:cNvSpPr>
            <a:spLocks noGrp="1"/>
          </p:cNvSpPr>
          <p:nvPr/>
        </p:nvSpPr>
        <p:spPr>
          <a:xfrm>
            <a:off x="8191500" y="4610100"/>
            <a:ext cx="253365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Facturas, pagos, recibos y cuentas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C018F68-59A3-47B4-BECE-D76500F50F7C}"/>
              </a:ext>
            </a:extLst>
          </p:cNvPr>
          <p:cNvSpPr>
            <a:spLocks noGrp="1"/>
          </p:cNvSpPr>
          <p:nvPr/>
        </p:nvSpPr>
        <p:spPr>
          <a:xfrm>
            <a:off x="3105150" y="4800600"/>
            <a:ext cx="28575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888FA5F-8473-4FA1-B63E-8CBF799686E3}"/>
              </a:ext>
            </a:extLst>
          </p:cNvPr>
          <p:cNvSpPr>
            <a:spLocks noGrp="1"/>
          </p:cNvSpPr>
          <p:nvPr/>
        </p:nvSpPr>
        <p:spPr>
          <a:xfrm>
            <a:off x="3105150" y="4800600"/>
            <a:ext cx="47625" cy="10287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E70BD03-4F4E-4BD9-8D3E-DEC096CB2B30}"/>
              </a:ext>
            </a:extLst>
          </p:cNvPr>
          <p:cNvSpPr>
            <a:spLocks noGrp="1"/>
          </p:cNvSpPr>
          <p:nvPr/>
        </p:nvSpPr>
        <p:spPr>
          <a:xfrm>
            <a:off x="3276600" y="494347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Documentos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3B525DF-2A9D-46F5-8C1D-A9FC07F2EA1D}"/>
              </a:ext>
            </a:extLst>
          </p:cNvPr>
          <p:cNvSpPr>
            <a:spLocks noGrp="1"/>
          </p:cNvSpPr>
          <p:nvPr/>
        </p:nvSpPr>
        <p:spPr>
          <a:xfrm>
            <a:off x="3276600" y="5219700"/>
            <a:ext cx="253365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Uploads, nombres visibles y reportes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F73C73B-FA3E-4C12-B82B-FD064957E7CD}"/>
              </a:ext>
            </a:extLst>
          </p:cNvPr>
          <p:cNvSpPr>
            <a:spLocks noGrp="1"/>
          </p:cNvSpPr>
          <p:nvPr/>
        </p:nvSpPr>
        <p:spPr>
          <a:xfrm>
            <a:off x="6572250" y="4800600"/>
            <a:ext cx="28575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3B82A0B-2533-4731-B633-0053E3DD047F}"/>
              </a:ext>
            </a:extLst>
          </p:cNvPr>
          <p:cNvSpPr>
            <a:spLocks noGrp="1"/>
          </p:cNvSpPr>
          <p:nvPr/>
        </p:nvSpPr>
        <p:spPr>
          <a:xfrm>
            <a:off x="6572250" y="4800600"/>
            <a:ext cx="47625" cy="10287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03B7817-062A-46E1-B9B7-8767B4274F8D}"/>
              </a:ext>
            </a:extLst>
          </p:cNvPr>
          <p:cNvSpPr>
            <a:spLocks noGrp="1"/>
          </p:cNvSpPr>
          <p:nvPr/>
        </p:nvSpPr>
        <p:spPr>
          <a:xfrm>
            <a:off x="6743700" y="4943475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Administracion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9E4F7A8-BB28-45E4-9D32-69566838E0A0}"/>
              </a:ext>
            </a:extLst>
          </p:cNvPr>
          <p:cNvSpPr>
            <a:spLocks noGrp="1"/>
          </p:cNvSpPr>
          <p:nvPr/>
        </p:nvSpPr>
        <p:spPr>
          <a:xfrm>
            <a:off x="6743700" y="5219700"/>
            <a:ext cx="253365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Compras, gastos, OC y ordenes de pago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100B760-E84B-4880-8238-E18937D6EB74}"/>
              </a:ext>
            </a:extLst>
          </p:cNvPr>
          <p:cNvSpPr>
            <a:spLocks noGrp="1"/>
          </p:cNvSpPr>
          <p:nvPr/>
        </p:nvSpPr>
        <p:spPr>
          <a:xfrm>
            <a:off x="1752600" y="5829300"/>
            <a:ext cx="857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32F"/>
                </a:solidFill>
                <a:latin typeface="Aptos"/>
                <a:ea typeface="Aptos"/>
                <a:cs typeface="Aptos"/>
              </a:rPr>
              <a:t>La direccion ve el negocio completo porque ventas, operaciones y finanzas usan la misma referencia.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A91E4E7-57F2-4992-99BF-808656CEDB4C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1A5F640-4F9E-48D2-9316-11B129755B47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ATMCargoSoft | Presentacion comercial para agencias de carga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19C75AB-0847-400B-B092-E322B02F3EED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890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ángulo 41">
            <a:extLst>
              <a:ext uri="{FF2B5EF4-FFF2-40B4-BE49-F238E27FC236}">
                <a16:creationId xmlns:a16="http://schemas.microsoft.com/office/drawing/2014/main" id="{68B49029-E114-451E-BBC4-00F265B981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11B2DD1-560B-450D-B132-C5774F2BC3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BBA25E0-D9A2-4095-A2C1-D0E2BD0CFF87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670726F-A90F-4971-9FE5-E6B336126C14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6CCFA873-C8E7-40E9-A7B1-6DFC5822DB4B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COMPARACION COMPETITIVA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E0924FE-FAB8-4D2B-9C78-E99AFC85579D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9144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Frente a plataformas globales, ATMCargoSoft gana por cercania operativa regional.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7DD7A1B-4093-44D6-B3E8-8E2401D8D465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CargoWise, Magaya, GoFreight y Logitude compiten con suites amplias. ATMCargoSoft se posiciona como una alternativa mas cercana, adaptable y enfocada en la agencia regional.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C67F631-13A5-4ED9-9720-73B83808DDA6}"/>
              </a:ext>
            </a:extLst>
          </p:cNvPr>
          <p:cNvSpPr>
            <a:spLocks noGrp="1"/>
          </p:cNvSpPr>
          <p:nvPr/>
        </p:nvSpPr>
        <p:spPr>
          <a:xfrm>
            <a:off x="876300" y="2438400"/>
            <a:ext cx="2190750" cy="400050"/>
          </a:xfrm>
          <a:prstGeom prst="rect">
            <a:avLst/>
          </a:prstGeom>
          <a:solidFill>
            <a:srgbClr val="0E1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9B8C73A-2DC8-4C86-8BD8-3B283EBC0A6C}"/>
              </a:ext>
            </a:extLst>
          </p:cNvPr>
          <p:cNvSpPr>
            <a:spLocks noGrp="1"/>
          </p:cNvSpPr>
          <p:nvPr/>
        </p:nvSpPr>
        <p:spPr>
          <a:xfrm>
            <a:off x="1009650" y="2552700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Criterio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D043A12-5F15-4C8B-8971-0DE1E1BF90D1}"/>
              </a:ext>
            </a:extLst>
          </p:cNvPr>
          <p:cNvSpPr>
            <a:spLocks noGrp="1"/>
          </p:cNvSpPr>
          <p:nvPr/>
        </p:nvSpPr>
        <p:spPr>
          <a:xfrm>
            <a:off x="3067050" y="2438400"/>
            <a:ext cx="3905250" cy="400050"/>
          </a:xfrm>
          <a:prstGeom prst="rect">
            <a:avLst/>
          </a:prstGeom>
          <a:solidFill>
            <a:srgbClr val="0E1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B0E6200-3633-49BD-9CEB-D03EC7C3C95E}"/>
              </a:ext>
            </a:extLst>
          </p:cNvPr>
          <p:cNvSpPr>
            <a:spLocks noGrp="1"/>
          </p:cNvSpPr>
          <p:nvPr/>
        </p:nvSpPr>
        <p:spPr>
          <a:xfrm>
            <a:off x="3200400" y="2552700"/>
            <a:ext cx="3638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Suites globales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ACFE4BF-DC64-4CD3-A15A-0CCACEB9F0F1}"/>
              </a:ext>
            </a:extLst>
          </p:cNvPr>
          <p:cNvSpPr>
            <a:spLocks noGrp="1"/>
          </p:cNvSpPr>
          <p:nvPr/>
        </p:nvSpPr>
        <p:spPr>
          <a:xfrm>
            <a:off x="6972300" y="2438400"/>
            <a:ext cx="4095750" cy="4000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D77B11B-C19F-43F6-824C-E2D88990330B}"/>
              </a:ext>
            </a:extLst>
          </p:cNvPr>
          <p:cNvSpPr>
            <a:spLocks noGrp="1"/>
          </p:cNvSpPr>
          <p:nvPr/>
        </p:nvSpPr>
        <p:spPr>
          <a:xfrm>
            <a:off x="7105650" y="2552700"/>
            <a:ext cx="3829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ATMCargoSoft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B41BD11-29BE-4047-AE16-59BA5E60875E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AA9EA08-0F96-44A2-B53D-A0ECD26EC25E}"/>
              </a:ext>
            </a:extLst>
          </p:cNvPr>
          <p:cNvSpPr>
            <a:spLocks noGrp="1"/>
          </p:cNvSpPr>
          <p:nvPr/>
        </p:nvSpPr>
        <p:spPr>
          <a:xfrm>
            <a:off x="1009650" y="297180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Alcance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58F5519-B1CB-43D9-8E30-0A758277D0A7}"/>
              </a:ext>
            </a:extLst>
          </p:cNvPr>
          <p:cNvSpPr>
            <a:spLocks noGrp="1"/>
          </p:cNvSpPr>
          <p:nvPr/>
        </p:nvSpPr>
        <p:spPr>
          <a:xfrm>
            <a:off x="3067050" y="2838450"/>
            <a:ext cx="3905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1840DD1-1E79-4B72-9B16-2A00A1FE3D49}"/>
              </a:ext>
            </a:extLst>
          </p:cNvPr>
          <p:cNvSpPr>
            <a:spLocks noGrp="1"/>
          </p:cNvSpPr>
          <p:nvPr/>
        </p:nvSpPr>
        <p:spPr>
          <a:xfrm>
            <a:off x="3200400" y="2971800"/>
            <a:ext cx="3638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Muy amplio, con muchos modulos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3300DC7-BA6C-45DB-8DFD-D481A963E5BA}"/>
              </a:ext>
            </a:extLst>
          </p:cNvPr>
          <p:cNvSpPr>
            <a:spLocks noGrp="1"/>
          </p:cNvSpPr>
          <p:nvPr/>
        </p:nvSpPr>
        <p:spPr>
          <a:xfrm>
            <a:off x="6972300" y="2838450"/>
            <a:ext cx="4095750" cy="647700"/>
          </a:xfrm>
          <a:prstGeom prst="rect">
            <a:avLst/>
          </a:prstGeom>
          <a:solidFill>
            <a:srgbClr val="EEF4F2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27B5B30-616E-4DF6-8569-E714A6316786}"/>
              </a:ext>
            </a:extLst>
          </p:cNvPr>
          <p:cNvSpPr>
            <a:spLocks noGrp="1"/>
          </p:cNvSpPr>
          <p:nvPr/>
        </p:nvSpPr>
        <p:spPr>
          <a:xfrm>
            <a:off x="7105650" y="2971800"/>
            <a:ext cx="3829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3232F"/>
                </a:solidFill>
                <a:latin typeface="Aptos"/>
                <a:ea typeface="Aptos"/>
                <a:cs typeface="Aptos"/>
              </a:rPr>
              <a:t>Flujo completo para venta, operacion y finanzas regionales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C325FC0-3F07-4D6E-80E2-F40DB8D8DA7F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8655683-1D2E-494A-AC6E-0C32ACFE7E53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Implementacion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FAAAC3D-A7E7-4961-A9B2-1B04C2141EB9}"/>
              </a:ext>
            </a:extLst>
          </p:cNvPr>
          <p:cNvSpPr>
            <a:spLocks noGrp="1"/>
          </p:cNvSpPr>
          <p:nvPr/>
        </p:nvSpPr>
        <p:spPr>
          <a:xfrm>
            <a:off x="3067050" y="3486150"/>
            <a:ext cx="3905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F13689F-C204-4CC2-BDB6-C45F86E13D89}"/>
              </a:ext>
            </a:extLst>
          </p:cNvPr>
          <p:cNvSpPr>
            <a:spLocks noGrp="1"/>
          </p:cNvSpPr>
          <p:nvPr/>
        </p:nvSpPr>
        <p:spPr>
          <a:xfrm>
            <a:off x="3200400" y="3619500"/>
            <a:ext cx="3638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Puede requerir consultoria y configuracion extensa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3478E44-9152-442E-8F1D-92C1EBCEE23D}"/>
              </a:ext>
            </a:extLst>
          </p:cNvPr>
          <p:cNvSpPr>
            <a:spLocks noGrp="1"/>
          </p:cNvSpPr>
          <p:nvPr/>
        </p:nvSpPr>
        <p:spPr>
          <a:xfrm>
            <a:off x="6972300" y="3486150"/>
            <a:ext cx="4095750" cy="647700"/>
          </a:xfrm>
          <a:prstGeom prst="rect">
            <a:avLst/>
          </a:prstGeom>
          <a:solidFill>
            <a:srgbClr val="EEF4F2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8B9639A-55CB-4A97-8017-DA6B6B1721E0}"/>
              </a:ext>
            </a:extLst>
          </p:cNvPr>
          <p:cNvSpPr>
            <a:spLocks noGrp="1"/>
          </p:cNvSpPr>
          <p:nvPr/>
        </p:nvSpPr>
        <p:spPr>
          <a:xfrm>
            <a:off x="7105650" y="3619500"/>
            <a:ext cx="3829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3232F"/>
                </a:solidFill>
                <a:latin typeface="Aptos"/>
                <a:ea typeface="Aptos"/>
                <a:cs typeface="Aptos"/>
              </a:rPr>
              <a:t>Adaptable a procesos locales y crecimiento gradual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9863051-54A1-4539-86A4-517E455715E1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2E6C051-6A19-4F20-A336-2242D49043D4}"/>
              </a:ext>
            </a:extLst>
          </p:cNvPr>
          <p:cNvSpPr>
            <a:spLocks noGrp="1"/>
          </p:cNvSpPr>
          <p:nvPr/>
        </p:nvSpPr>
        <p:spPr>
          <a:xfrm>
            <a:off x="1009650" y="426720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Diferencial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977C5AC-7FCA-4230-AB0D-B9DDDDCFC6A9}"/>
              </a:ext>
            </a:extLst>
          </p:cNvPr>
          <p:cNvSpPr>
            <a:spLocks noGrp="1"/>
          </p:cNvSpPr>
          <p:nvPr/>
        </p:nvSpPr>
        <p:spPr>
          <a:xfrm>
            <a:off x="3067050" y="4133850"/>
            <a:ext cx="3905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BD07218-FEDF-40F1-A598-58B2B6B51E5A}"/>
              </a:ext>
            </a:extLst>
          </p:cNvPr>
          <p:cNvSpPr>
            <a:spLocks noGrp="1"/>
          </p:cNvSpPr>
          <p:nvPr/>
        </p:nvSpPr>
        <p:spPr>
          <a:xfrm>
            <a:off x="3200400" y="4267200"/>
            <a:ext cx="3638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Red global, integraciones y estandarizacion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5EFE702-846F-4607-A7D5-168DE8EF2401}"/>
              </a:ext>
            </a:extLst>
          </p:cNvPr>
          <p:cNvSpPr>
            <a:spLocks noGrp="1"/>
          </p:cNvSpPr>
          <p:nvPr/>
        </p:nvSpPr>
        <p:spPr>
          <a:xfrm>
            <a:off x="6972300" y="4133850"/>
            <a:ext cx="4095750" cy="647700"/>
          </a:xfrm>
          <a:prstGeom prst="rect">
            <a:avLst/>
          </a:prstGeom>
          <a:solidFill>
            <a:srgbClr val="EEF4F2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02895C1-D73B-486E-B14F-9B591FBB2A5C}"/>
              </a:ext>
            </a:extLst>
          </p:cNvPr>
          <p:cNvSpPr>
            <a:spLocks noGrp="1"/>
          </p:cNvSpPr>
          <p:nvPr/>
        </p:nvSpPr>
        <p:spPr>
          <a:xfrm>
            <a:off x="7105650" y="4267200"/>
            <a:ext cx="3829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3232F"/>
                </a:solidFill>
                <a:latin typeface="Aptos"/>
                <a:ea typeface="Aptos"/>
                <a:cs typeface="Aptos"/>
              </a:rPr>
              <a:t>Cost sheet, documentos y administracion conectados al expediente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6769041-273A-468A-92E8-4098D2A94A07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0B75D55-82CB-408F-B46A-247A75FB4725}"/>
              </a:ext>
            </a:extLst>
          </p:cNvPr>
          <p:cNvSpPr>
            <a:spLocks noGrp="1"/>
          </p:cNvSpPr>
          <p:nvPr/>
        </p:nvSpPr>
        <p:spPr>
          <a:xfrm>
            <a:off x="1009650" y="4914900"/>
            <a:ext cx="1924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Cliente ideal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F8564EE2-93E5-400F-98EA-06CB3251A892}"/>
              </a:ext>
            </a:extLst>
          </p:cNvPr>
          <p:cNvSpPr>
            <a:spLocks noGrp="1"/>
          </p:cNvSpPr>
          <p:nvPr/>
        </p:nvSpPr>
        <p:spPr>
          <a:xfrm>
            <a:off x="3067050" y="4781550"/>
            <a:ext cx="3905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6A241DF-ECA8-4412-908D-F9D302BFBEAE}"/>
              </a:ext>
            </a:extLst>
          </p:cNvPr>
          <p:cNvSpPr>
            <a:spLocks noGrp="1"/>
          </p:cNvSpPr>
          <p:nvPr/>
        </p:nvSpPr>
        <p:spPr>
          <a:xfrm>
            <a:off x="3200400" y="4914900"/>
            <a:ext cx="3638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Operadores con escala multinacional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908114E-B373-4D1B-ADE7-0846AB215F3F}"/>
              </a:ext>
            </a:extLst>
          </p:cNvPr>
          <p:cNvSpPr>
            <a:spLocks noGrp="1"/>
          </p:cNvSpPr>
          <p:nvPr/>
        </p:nvSpPr>
        <p:spPr>
          <a:xfrm>
            <a:off x="6972300" y="4781550"/>
            <a:ext cx="4095750" cy="647700"/>
          </a:xfrm>
          <a:prstGeom prst="rect">
            <a:avLst/>
          </a:prstGeom>
          <a:solidFill>
            <a:srgbClr val="EEF4F2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D7AC702-8B69-4624-A5B4-6F441912FD84}"/>
              </a:ext>
            </a:extLst>
          </p:cNvPr>
          <p:cNvSpPr>
            <a:spLocks noGrp="1"/>
          </p:cNvSpPr>
          <p:nvPr/>
        </p:nvSpPr>
        <p:spPr>
          <a:xfrm>
            <a:off x="7105650" y="4914900"/>
            <a:ext cx="3829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013" b="0" dirty="0" err="1">
                <a:solidFill>
                  <a:srgbClr val="13232F"/>
                </a:solidFill>
                <a:latin typeface="Aptos"/>
                <a:ea typeface="Aptos"/>
                <a:cs typeface="Aptos"/>
              </a:rPr>
              <a:t>Agencias</a:t>
            </a:r>
            <a:r>
              <a:rPr sz="1013" b="0" dirty="0">
                <a:solidFill>
                  <a:srgbClr val="13232F"/>
                </a:solidFill>
                <a:latin typeface="Aptos"/>
                <a:ea typeface="Aptos"/>
                <a:cs typeface="Aptos"/>
              </a:rPr>
              <a:t> que </a:t>
            </a:r>
            <a:r>
              <a:rPr sz="1013" b="0" dirty="0" err="1">
                <a:solidFill>
                  <a:srgbClr val="13232F"/>
                </a:solidFill>
                <a:latin typeface="Aptos"/>
                <a:ea typeface="Aptos"/>
                <a:cs typeface="Aptos"/>
              </a:rPr>
              <a:t>necesitan</a:t>
            </a:r>
            <a:r>
              <a:rPr sz="1013" b="0" dirty="0">
                <a:solidFill>
                  <a:srgbClr val="13232F"/>
                </a:solidFill>
                <a:latin typeface="Aptos"/>
                <a:ea typeface="Aptos"/>
                <a:cs typeface="Aptos"/>
              </a:rPr>
              <a:t> control sin </a:t>
            </a:r>
            <a:r>
              <a:rPr sz="1013" b="0" dirty="0" err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complejidad</a:t>
            </a:r>
            <a:r>
              <a:rPr sz="1013" b="0" dirty="0">
                <a:solidFill>
                  <a:srgbClr val="13232F"/>
                </a:solidFill>
                <a:latin typeface="Aptos"/>
                <a:ea typeface="Aptos"/>
                <a:cs typeface="Aptos"/>
              </a:rPr>
              <a:t> </a:t>
            </a:r>
            <a:r>
              <a:rPr sz="1013" b="0" dirty="0" err="1">
                <a:solidFill>
                  <a:srgbClr val="13232F"/>
                </a:solidFill>
                <a:latin typeface="Aptos"/>
                <a:ea typeface="Aptos"/>
                <a:cs typeface="Aptos"/>
              </a:rPr>
              <a:t>excesiva</a:t>
            </a:r>
            <a:endParaRPr sz="1013" b="0" dirty="0">
              <a:solidFill>
                <a:srgbClr val="13232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DF90719E-8C51-4B64-BA9A-621B9780902C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B817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17F"/>
                </a:solidFill>
                <a:latin typeface="Aptos"/>
                <a:ea typeface="Aptos"/>
                <a:cs typeface="Aptos"/>
              </a:rPr>
              <a:t>Fuentes comparativas: CargoWise, Magaya, GoFreight y Logitude describen suites de freight forwarding con quoting, shipments, billing, accounting, tracking y automation.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9598A57-4BE5-4EB7-93A9-4BE05C781D03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FB1AB599-5204-4A38-A95D-82907AB32021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ATMCargoSoft | Presentacion comercial para agencias de carga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05228442-BC40-4E63-8A2E-B5FCA8020F90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477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ángulo 45">
            <a:extLst>
              <a:ext uri="{FF2B5EF4-FFF2-40B4-BE49-F238E27FC236}">
                <a16:creationId xmlns:a16="http://schemas.microsoft.com/office/drawing/2014/main" id="{8962600A-564A-4345-86F6-885136FE7B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AA207C8-C354-4B12-9085-EB1E2DFC0A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311D29C-031F-49EB-BE28-46DE6E77D2E6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9C32F1-F250-4045-A75A-E53D89252B1C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3860E135-210E-45CB-8AF9-60485CC39F35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FLUJO END TO END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F283789-6359-4180-AB71-26C75021F721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7905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El flujo comercial-operativo convierte oportunidades en operaciones controladas.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5821184-25E0-4356-AD2D-CE1CE8FA4DEC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Cada etapa agrega informacion reusable y reduce recarga manual.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AA67F9C-368B-4711-8743-021128A16B3D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1381125" cy="1181100"/>
          </a:xfrm>
          <a:prstGeom prst="rect">
            <a:avLst/>
          </a:prstGeom>
          <a:solidFill>
            <a:srgbClr val="EDF4F3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62F4A65-2C24-4681-BE98-158F52E55F53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82A22BB-6DEA-4981-82C6-7A900F426D3D}"/>
              </a:ext>
            </a:extLst>
          </p:cNvPr>
          <p:cNvSpPr>
            <a:spLocks noGrp="1"/>
          </p:cNvSpPr>
          <p:nvPr/>
        </p:nvSpPr>
        <p:spPr>
          <a:xfrm>
            <a:off x="952500" y="36385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Lead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A73B113-1261-499F-86CD-AFC680A96918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Organizacion, contacto y responsable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1580071-FD43-45F5-BC49-60405FA97C77}"/>
              </a:ext>
            </a:extLst>
          </p:cNvPr>
          <p:cNvSpPr>
            <a:spLocks noGrp="1"/>
          </p:cNvSpPr>
          <p:nvPr/>
        </p:nvSpPr>
        <p:spPr>
          <a:xfrm>
            <a:off x="2228850" y="3733800"/>
            <a:ext cx="133350" cy="190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riángulo isósceles 12">
            <a:extLst>
              <a:ext uri="{FF2B5EF4-FFF2-40B4-BE49-F238E27FC236}">
                <a16:creationId xmlns:a16="http://schemas.microsoft.com/office/drawing/2014/main" id="{A319FA1A-7E3C-47A5-BE99-07A02D893730}"/>
              </a:ext>
            </a:extLst>
          </p:cNvPr>
          <p:cNvSpPr>
            <a:spLocks noGrp="1"/>
          </p:cNvSpPr>
          <p:nvPr/>
        </p:nvSpPr>
        <p:spPr>
          <a:xfrm>
            <a:off x="2343150" y="3686175"/>
            <a:ext cx="114300" cy="114300"/>
          </a:xfrm>
          <a:prstGeom prst="triangle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99A91DA-4A00-424A-9E0E-053B7B555CFE}"/>
              </a:ext>
            </a:extLst>
          </p:cNvPr>
          <p:cNvSpPr>
            <a:spLocks noGrp="1"/>
          </p:cNvSpPr>
          <p:nvPr/>
        </p:nvSpPr>
        <p:spPr>
          <a:xfrm>
            <a:off x="2562225" y="3143250"/>
            <a:ext cx="1381125" cy="118110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2DDC51B-73DC-4747-8ADD-2D485D9072F7}"/>
              </a:ext>
            </a:extLst>
          </p:cNvPr>
          <p:cNvSpPr>
            <a:spLocks noGrp="1"/>
          </p:cNvSpPr>
          <p:nvPr/>
        </p:nvSpPr>
        <p:spPr>
          <a:xfrm>
            <a:off x="2714625" y="327660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5C472A3-6E2F-4ADE-A671-60DEA4B789D3}"/>
              </a:ext>
            </a:extLst>
          </p:cNvPr>
          <p:cNvSpPr>
            <a:spLocks noGrp="1"/>
          </p:cNvSpPr>
          <p:nvPr/>
        </p:nvSpPr>
        <p:spPr>
          <a:xfrm>
            <a:off x="2714625" y="36385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Deal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96925D5-E577-48BD-A3B4-D13CBBD84BED}"/>
              </a:ext>
            </a:extLst>
          </p:cNvPr>
          <p:cNvSpPr>
            <a:spLocks noGrp="1"/>
          </p:cNvSpPr>
          <p:nvPr/>
        </p:nvSpPr>
        <p:spPr>
          <a:xfrm>
            <a:off x="2714625" y="39052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Etapa, unidad de negocio y seguimiento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CED7820-149E-4C93-BF00-2E9B002DB4CA}"/>
              </a:ext>
            </a:extLst>
          </p:cNvPr>
          <p:cNvSpPr>
            <a:spLocks noGrp="1"/>
          </p:cNvSpPr>
          <p:nvPr/>
        </p:nvSpPr>
        <p:spPr>
          <a:xfrm>
            <a:off x="3990975" y="3733800"/>
            <a:ext cx="133350" cy="190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9A5E2B25-AFA3-48DE-B45B-3C55B6B9BCF0}"/>
              </a:ext>
            </a:extLst>
          </p:cNvPr>
          <p:cNvSpPr>
            <a:spLocks noGrp="1"/>
          </p:cNvSpPr>
          <p:nvPr/>
        </p:nvSpPr>
        <p:spPr>
          <a:xfrm>
            <a:off x="4105275" y="3686175"/>
            <a:ext cx="114300" cy="114300"/>
          </a:xfrm>
          <a:prstGeom prst="triangle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9BEFF29-F8ED-47F9-A808-39A128B07435}"/>
              </a:ext>
            </a:extLst>
          </p:cNvPr>
          <p:cNvSpPr>
            <a:spLocks noGrp="1"/>
          </p:cNvSpPr>
          <p:nvPr/>
        </p:nvSpPr>
        <p:spPr>
          <a:xfrm>
            <a:off x="4324350" y="3143250"/>
            <a:ext cx="1381125" cy="1181100"/>
          </a:xfrm>
          <a:prstGeom prst="rect">
            <a:avLst/>
          </a:prstGeom>
          <a:solidFill>
            <a:srgbClr val="F4F0D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554D15B-5659-47C5-9A55-8929B38FE5EF}"/>
              </a:ext>
            </a:extLst>
          </p:cNvPr>
          <p:cNvSpPr>
            <a:spLocks noGrp="1"/>
          </p:cNvSpPr>
          <p:nvPr/>
        </p:nvSpPr>
        <p:spPr>
          <a:xfrm>
            <a:off x="4476750" y="327660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E6D8C6-EC58-4CB4-B9EF-6D53DF15A485}"/>
              </a:ext>
            </a:extLst>
          </p:cNvPr>
          <p:cNvSpPr>
            <a:spLocks noGrp="1"/>
          </p:cNvSpPr>
          <p:nvPr/>
        </p:nvSpPr>
        <p:spPr>
          <a:xfrm>
            <a:off x="4476750" y="36385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Cotizacion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2DA924C-EC29-4D1B-AD2C-788E11FB9606}"/>
              </a:ext>
            </a:extLst>
          </p:cNvPr>
          <p:cNvSpPr>
            <a:spLocks noGrp="1"/>
          </p:cNvSpPr>
          <p:nvPr/>
        </p:nvSpPr>
        <p:spPr>
          <a:xfrm>
            <a:off x="4476750" y="39052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Condiciones, costos y PDF formal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3720FE3-36EB-4009-8887-B5001EECCDF0}"/>
              </a:ext>
            </a:extLst>
          </p:cNvPr>
          <p:cNvSpPr>
            <a:spLocks noGrp="1"/>
          </p:cNvSpPr>
          <p:nvPr/>
        </p:nvSpPr>
        <p:spPr>
          <a:xfrm>
            <a:off x="5753100" y="3733800"/>
            <a:ext cx="133350" cy="190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riángulo isósceles 24">
            <a:extLst>
              <a:ext uri="{FF2B5EF4-FFF2-40B4-BE49-F238E27FC236}">
                <a16:creationId xmlns:a16="http://schemas.microsoft.com/office/drawing/2014/main" id="{6337CCAB-B3F1-4DF6-94F4-BC48E18F7E78}"/>
              </a:ext>
            </a:extLst>
          </p:cNvPr>
          <p:cNvSpPr>
            <a:spLocks noGrp="1"/>
          </p:cNvSpPr>
          <p:nvPr/>
        </p:nvSpPr>
        <p:spPr>
          <a:xfrm>
            <a:off x="5867400" y="3686175"/>
            <a:ext cx="114300" cy="114300"/>
          </a:xfrm>
          <a:prstGeom prst="triangle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ED9E2C3-8BE1-4B3D-81BD-4A9D023A43EC}"/>
              </a:ext>
            </a:extLst>
          </p:cNvPr>
          <p:cNvSpPr>
            <a:spLocks noGrp="1"/>
          </p:cNvSpPr>
          <p:nvPr/>
        </p:nvSpPr>
        <p:spPr>
          <a:xfrm>
            <a:off x="6086475" y="3143250"/>
            <a:ext cx="1381125" cy="1181100"/>
          </a:xfrm>
          <a:prstGeom prst="rect">
            <a:avLst/>
          </a:prstGeom>
          <a:solidFill>
            <a:srgbClr val="EDF4F3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D1C1EEE-41BE-464A-ADFF-37450846063A}"/>
              </a:ext>
            </a:extLst>
          </p:cNvPr>
          <p:cNvSpPr>
            <a:spLocks noGrp="1"/>
          </p:cNvSpPr>
          <p:nvPr/>
        </p:nvSpPr>
        <p:spPr>
          <a:xfrm>
            <a:off x="6238875" y="327660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4842689-6472-4270-BAA2-F2F86A69913F}"/>
              </a:ext>
            </a:extLst>
          </p:cNvPr>
          <p:cNvSpPr>
            <a:spLocks noGrp="1"/>
          </p:cNvSpPr>
          <p:nvPr/>
        </p:nvSpPr>
        <p:spPr>
          <a:xfrm>
            <a:off x="6238875" y="36385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Confirmacion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5FCC032-0328-43EB-9E7B-4084AD1C3958}"/>
              </a:ext>
            </a:extLst>
          </p:cNvPr>
          <p:cNvSpPr>
            <a:spLocks noGrp="1"/>
          </p:cNvSpPr>
          <p:nvPr/>
        </p:nvSpPr>
        <p:spPr>
          <a:xfrm>
            <a:off x="6238875" y="39052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Operacion y documentos requeridos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02DBE7F-20A8-4611-B4D8-4D0749B93261}"/>
              </a:ext>
            </a:extLst>
          </p:cNvPr>
          <p:cNvSpPr>
            <a:spLocks noGrp="1"/>
          </p:cNvSpPr>
          <p:nvPr/>
        </p:nvSpPr>
        <p:spPr>
          <a:xfrm>
            <a:off x="7515225" y="3733800"/>
            <a:ext cx="133350" cy="190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Triángulo isósceles 30">
            <a:extLst>
              <a:ext uri="{FF2B5EF4-FFF2-40B4-BE49-F238E27FC236}">
                <a16:creationId xmlns:a16="http://schemas.microsoft.com/office/drawing/2014/main" id="{0ADB7CD1-0D3D-4425-84A0-AF786E060AB7}"/>
              </a:ext>
            </a:extLst>
          </p:cNvPr>
          <p:cNvSpPr>
            <a:spLocks noGrp="1"/>
          </p:cNvSpPr>
          <p:nvPr/>
        </p:nvSpPr>
        <p:spPr>
          <a:xfrm>
            <a:off x="7629525" y="3686175"/>
            <a:ext cx="114300" cy="114300"/>
          </a:xfrm>
          <a:prstGeom prst="triangle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8BA5262-54CA-457E-91BA-BDA9B283A592}"/>
              </a:ext>
            </a:extLst>
          </p:cNvPr>
          <p:cNvSpPr>
            <a:spLocks noGrp="1"/>
          </p:cNvSpPr>
          <p:nvPr/>
        </p:nvSpPr>
        <p:spPr>
          <a:xfrm>
            <a:off x="7848600" y="3143250"/>
            <a:ext cx="1381125" cy="118110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14EF701-104D-4F95-9C0F-1C2F9FD204E3}"/>
              </a:ext>
            </a:extLst>
          </p:cNvPr>
          <p:cNvSpPr>
            <a:spLocks noGrp="1"/>
          </p:cNvSpPr>
          <p:nvPr/>
        </p:nvSpPr>
        <p:spPr>
          <a:xfrm>
            <a:off x="8001000" y="327660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455397E-4FA5-4CA5-A2E9-0471D170A5F6}"/>
              </a:ext>
            </a:extLst>
          </p:cNvPr>
          <p:cNvSpPr>
            <a:spLocks noGrp="1"/>
          </p:cNvSpPr>
          <p:nvPr/>
        </p:nvSpPr>
        <p:spPr>
          <a:xfrm>
            <a:off x="8001000" y="36385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Ejecucion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B2F34F4-ECC4-4480-879C-5AD1511083D5}"/>
              </a:ext>
            </a:extLst>
          </p:cNvPr>
          <p:cNvSpPr>
            <a:spLocks noGrp="1"/>
          </p:cNvSpPr>
          <p:nvPr/>
        </p:nvSpPr>
        <p:spPr>
          <a:xfrm>
            <a:off x="8001000" y="39052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Fechas, proveedores, gastos y reportes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691339E6-17D6-4EAE-93E1-6E4F5EFC1373}"/>
              </a:ext>
            </a:extLst>
          </p:cNvPr>
          <p:cNvSpPr>
            <a:spLocks noGrp="1"/>
          </p:cNvSpPr>
          <p:nvPr/>
        </p:nvSpPr>
        <p:spPr>
          <a:xfrm>
            <a:off x="9277350" y="3733800"/>
            <a:ext cx="133350" cy="190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Triángulo isósceles 36">
            <a:extLst>
              <a:ext uri="{FF2B5EF4-FFF2-40B4-BE49-F238E27FC236}">
                <a16:creationId xmlns:a16="http://schemas.microsoft.com/office/drawing/2014/main" id="{570A6DAE-4AEC-4DC3-8F87-446FA6F81AB7}"/>
              </a:ext>
            </a:extLst>
          </p:cNvPr>
          <p:cNvSpPr>
            <a:spLocks noGrp="1"/>
          </p:cNvSpPr>
          <p:nvPr/>
        </p:nvSpPr>
        <p:spPr>
          <a:xfrm>
            <a:off x="9391650" y="3686175"/>
            <a:ext cx="114300" cy="114300"/>
          </a:xfrm>
          <a:prstGeom prst="triangle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BDB7B5FE-0FDE-4A88-A8EA-6C97C1205B76}"/>
              </a:ext>
            </a:extLst>
          </p:cNvPr>
          <p:cNvSpPr>
            <a:spLocks noGrp="1"/>
          </p:cNvSpPr>
          <p:nvPr/>
        </p:nvSpPr>
        <p:spPr>
          <a:xfrm>
            <a:off x="9610725" y="3143250"/>
            <a:ext cx="1381125" cy="1181100"/>
          </a:xfrm>
          <a:prstGeom prst="rect">
            <a:avLst/>
          </a:prstGeom>
          <a:solidFill>
            <a:srgbClr val="F4F0D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9E7E324-6F4C-4AF9-B16F-DD5789ED0510}"/>
              </a:ext>
            </a:extLst>
          </p:cNvPr>
          <p:cNvSpPr>
            <a:spLocks noGrp="1"/>
          </p:cNvSpPr>
          <p:nvPr/>
        </p:nvSpPr>
        <p:spPr>
          <a:xfrm>
            <a:off x="9763125" y="327660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C9303B3-7BD3-439C-B287-F3091C31B713}"/>
              </a:ext>
            </a:extLst>
          </p:cNvPr>
          <p:cNvSpPr>
            <a:spLocks noGrp="1"/>
          </p:cNvSpPr>
          <p:nvPr/>
        </p:nvSpPr>
        <p:spPr>
          <a:xfrm>
            <a:off x="9763125" y="36385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37F7B107-CC56-48E0-9609-C15B3E969B41}"/>
              </a:ext>
            </a:extLst>
          </p:cNvPr>
          <p:cNvSpPr>
            <a:spLocks noGrp="1"/>
          </p:cNvSpPr>
          <p:nvPr/>
        </p:nvSpPr>
        <p:spPr>
          <a:xfrm>
            <a:off x="9763125" y="39052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Factura, recibos, pagos y rentabilidad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3F88E81B-A459-4909-AC7E-644E09D1B9CD}"/>
              </a:ext>
            </a:extLst>
          </p:cNvPr>
          <p:cNvSpPr>
            <a:spLocks noGrp="1"/>
          </p:cNvSpPr>
          <p:nvPr/>
        </p:nvSpPr>
        <p:spPr>
          <a:xfrm>
            <a:off x="1524000" y="4953000"/>
            <a:ext cx="8096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La agencia no solo registra operaciones: construye una memoria comercial y financiera reutilizable.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BC059B88-F322-4DF8-B744-0EC044AF9415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FBF99D7-5955-44FB-9BB7-BECDBACC1B25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ATMCargoSoft | Presentacion comercial para agencias de carga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24317653-DD44-4A62-81E4-25D2DE76987A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644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986E6AA8-A8D9-4182-8EBF-8E4ABEC6EA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44E0C4-E1E0-44AD-BB9B-DDE815ED80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DC1AA94-446E-4260-94EB-394515CB7EF9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94EB0E8-AC0A-4C56-A43D-E8A3529AC27C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37B07A86-2C2D-4E0B-8C89-6DAD5BED4F43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CONTROL DE MARGEN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FC6AA5C-7FC0-42EB-A96B-D306E1378292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572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La rentabilidad se controla durante la operacion, no al final.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A6EC7C2-B163-4D46-8870-27DBDFF38905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Cost sheet, versiones, compra vs venta y alertas ayudan a proteger margen antes de que el costo se vuelva sorpresa.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6EE226B-4FF4-4B9C-9DDE-9D3A4C4506F8}"/>
              </a:ext>
            </a:extLst>
          </p:cNvPr>
          <p:cNvSpPr>
            <a:spLocks noGrp="1"/>
          </p:cNvSpPr>
          <p:nvPr/>
        </p:nvSpPr>
        <p:spPr>
          <a:xfrm>
            <a:off x="1143000" y="2895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Compra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7532C33-1400-44B5-B0B0-2C4EDADF8471}"/>
              </a:ext>
            </a:extLst>
          </p:cNvPr>
          <p:cNvSpPr>
            <a:spLocks noGrp="1"/>
          </p:cNvSpPr>
          <p:nvPr/>
        </p:nvSpPr>
        <p:spPr>
          <a:xfrm>
            <a:off x="2343150" y="2857500"/>
            <a:ext cx="2667000" cy="2667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EE57B24-63E9-4605-85AD-49674C69F5FA}"/>
              </a:ext>
            </a:extLst>
          </p:cNvPr>
          <p:cNvSpPr>
            <a:spLocks noGrp="1"/>
          </p:cNvSpPr>
          <p:nvPr/>
        </p:nvSpPr>
        <p:spPr>
          <a:xfrm>
            <a:off x="5181600" y="2886075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registrado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1D0F39E-85EC-42FB-8262-0A811F56664F}"/>
              </a:ext>
            </a:extLst>
          </p:cNvPr>
          <p:cNvSpPr>
            <a:spLocks noGrp="1"/>
          </p:cNvSpPr>
          <p:nvPr/>
        </p:nvSpPr>
        <p:spPr>
          <a:xfrm>
            <a:off x="1143000" y="35052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Venta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E5A9F0-453C-49FC-AA48-A3772ABD99AA}"/>
              </a:ext>
            </a:extLst>
          </p:cNvPr>
          <p:cNvSpPr>
            <a:spLocks noGrp="1"/>
          </p:cNvSpPr>
          <p:nvPr/>
        </p:nvSpPr>
        <p:spPr>
          <a:xfrm>
            <a:off x="2343150" y="3467100"/>
            <a:ext cx="3476625" cy="2667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B7F8912-3AA9-4265-A479-A2CF986B6FD5}"/>
              </a:ext>
            </a:extLst>
          </p:cNvPr>
          <p:cNvSpPr>
            <a:spLocks noGrp="1"/>
          </p:cNvSpPr>
          <p:nvPr/>
        </p:nvSpPr>
        <p:spPr>
          <a:xfrm>
            <a:off x="5991225" y="3495675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registrado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FDB7AC8-C510-46A4-9318-B2309CC1D146}"/>
              </a:ext>
            </a:extLst>
          </p:cNvPr>
          <p:cNvSpPr>
            <a:spLocks noGrp="1"/>
          </p:cNvSpPr>
          <p:nvPr/>
        </p:nvSpPr>
        <p:spPr>
          <a:xfrm>
            <a:off x="1143000" y="41148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Profit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C745237-C2AA-4653-98D7-65F53EE54C40}"/>
              </a:ext>
            </a:extLst>
          </p:cNvPr>
          <p:cNvSpPr>
            <a:spLocks noGrp="1"/>
          </p:cNvSpPr>
          <p:nvPr/>
        </p:nvSpPr>
        <p:spPr>
          <a:xfrm>
            <a:off x="2343150" y="4076700"/>
            <a:ext cx="1619250" cy="2667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573BF83-5B9D-45E8-9920-E6D06F049295}"/>
              </a:ext>
            </a:extLst>
          </p:cNvPr>
          <p:cNvSpPr>
            <a:spLocks noGrp="1"/>
          </p:cNvSpPr>
          <p:nvPr/>
        </p:nvSpPr>
        <p:spPr>
          <a:xfrm>
            <a:off x="4133850" y="4105275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margen visible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46F254F-0EBB-427D-9228-E67B0ED4C1F2}"/>
              </a:ext>
            </a:extLst>
          </p:cNvPr>
          <p:cNvSpPr>
            <a:spLocks noGrp="1"/>
          </p:cNvSpPr>
          <p:nvPr/>
        </p:nvSpPr>
        <p:spPr>
          <a:xfrm>
            <a:off x="6143625" y="2724150"/>
            <a:ext cx="9525" cy="2095500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A09FE7B-AB2C-4368-A988-CC86095498D2}"/>
              </a:ext>
            </a:extLst>
          </p:cNvPr>
          <p:cNvSpPr>
            <a:spLocks noGrp="1"/>
          </p:cNvSpPr>
          <p:nvPr/>
        </p:nvSpPr>
        <p:spPr>
          <a:xfrm>
            <a:off x="6667500" y="2705100"/>
            <a:ext cx="3905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3A24C5C-9A18-47D9-9126-7B25B3C104E5}"/>
              </a:ext>
            </a:extLst>
          </p:cNvPr>
          <p:cNvSpPr>
            <a:spLocks noGrp="1"/>
          </p:cNvSpPr>
          <p:nvPr/>
        </p:nvSpPr>
        <p:spPr>
          <a:xfrm>
            <a:off x="6838950" y="28194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Versiones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7206C41-FF7A-4208-B70D-3527276CE378}"/>
              </a:ext>
            </a:extLst>
          </p:cNvPr>
          <p:cNvSpPr>
            <a:spLocks noGrp="1"/>
          </p:cNvSpPr>
          <p:nvPr/>
        </p:nvSpPr>
        <p:spPr>
          <a:xfrm>
            <a:off x="8096250" y="280035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Comparar escenarios y conservar historial de cotizacion.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8549801-2C66-4C5D-B3BE-CDDAC0EE618C}"/>
              </a:ext>
            </a:extLst>
          </p:cNvPr>
          <p:cNvSpPr>
            <a:spLocks noGrp="1"/>
          </p:cNvSpPr>
          <p:nvPr/>
        </p:nvSpPr>
        <p:spPr>
          <a:xfrm>
            <a:off x="6667500" y="3429000"/>
            <a:ext cx="3905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7B7AB0E-8BE7-4855-BA93-1F19757DB8D1}"/>
              </a:ext>
            </a:extLst>
          </p:cNvPr>
          <p:cNvSpPr>
            <a:spLocks noGrp="1"/>
          </p:cNvSpPr>
          <p:nvPr/>
        </p:nvSpPr>
        <p:spPr>
          <a:xfrm>
            <a:off x="6838950" y="35433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Sobrecosto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F654EBB-12AF-4B50-BBC8-FF14841E381D}"/>
              </a:ext>
            </a:extLst>
          </p:cNvPr>
          <p:cNvSpPr>
            <a:spLocks noGrp="1"/>
          </p:cNvSpPr>
          <p:nvPr/>
        </p:nvSpPr>
        <p:spPr>
          <a:xfrm>
            <a:off x="8096250" y="352425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Identificar operaciones con costo real sobre presupuesto.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2A044B9-CAE0-4A9B-81A1-86AF809EFCB5}"/>
              </a:ext>
            </a:extLst>
          </p:cNvPr>
          <p:cNvSpPr>
            <a:spLocks noGrp="1"/>
          </p:cNvSpPr>
          <p:nvPr/>
        </p:nvSpPr>
        <p:spPr>
          <a:xfrm>
            <a:off x="6667500" y="4152900"/>
            <a:ext cx="3905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F63C4B1-C613-4E0C-B800-56BE28E5729F}"/>
              </a:ext>
            </a:extLst>
          </p:cNvPr>
          <p:cNvSpPr>
            <a:spLocks noGrp="1"/>
          </p:cNvSpPr>
          <p:nvPr/>
        </p:nvSpPr>
        <p:spPr>
          <a:xfrm>
            <a:off x="6838950" y="42672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Distribucion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19603C5-5C91-4580-B6D3-826CDB9E7E86}"/>
              </a:ext>
            </a:extLst>
          </p:cNvPr>
          <p:cNvSpPr>
            <a:spLocks noGrp="1"/>
          </p:cNvSpPr>
          <p:nvPr/>
        </p:nvSpPr>
        <p:spPr>
          <a:xfrm>
            <a:off x="8096250" y="424815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Separar rubros como flete, despacho, seguro, financiacion e instalacion.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E9AA235-7E81-4A23-80F1-0ADDB44EE5D9}"/>
              </a:ext>
            </a:extLst>
          </p:cNvPr>
          <p:cNvSpPr>
            <a:spLocks noGrp="1"/>
          </p:cNvSpPr>
          <p:nvPr/>
        </p:nvSpPr>
        <p:spPr>
          <a:xfrm>
            <a:off x="1619250" y="5410200"/>
            <a:ext cx="781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Impacto comercial: cotizar con mas consistencia y defender margen por operacion.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1FD0D0A-A6FE-4305-BC0E-B078B5D59444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71FAE54-8DA8-4FBF-BD26-78B6C5E339F1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ATMCargoSoft | Presentacion comercial para agencias de carga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8E4C073-772C-4D24-BDD8-4517C7121AC7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4860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2D993C25-5266-44F6-852D-F78D42E70C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BF099AB-6770-4349-AEB1-B853348BFF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7BD3B91-2FCF-49F2-A861-E01FDD88CBC7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E0CBF9B-7843-4D42-8E51-A57F2969C172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F8082317-0D61-45C1-BA41-BE0330C17F2A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FINANZAS CONECTADAS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544297-15D3-431F-B3DC-721A42425D0F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572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Administracion y finanzas trabajan sobre la misma verdad operativa.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FB2F3CC-6960-4585-A23D-DA81434FECBD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La factura, el pago al proveedor y el estado de cuenta dejan de ser una capa separada del expediente.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3D3EC2-0E31-467A-992C-28844D48EC09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Facturas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3405D97-A7AC-4C14-B95D-C74851192A04}"/>
              </a:ext>
            </a:extLst>
          </p:cNvPr>
          <p:cNvSpPr>
            <a:spLocks noGrp="1"/>
          </p:cNvSpPr>
          <p:nvPr/>
        </p:nvSpPr>
        <p:spPr>
          <a:xfrm>
            <a:off x="990600" y="320040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emision y PDF por operacion o servicio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A6444D0-D27A-45E2-8EA3-E051B664999A}"/>
              </a:ext>
            </a:extLst>
          </p:cNvPr>
          <p:cNvSpPr>
            <a:spLocks noGrp="1"/>
          </p:cNvSpPr>
          <p:nvPr/>
        </p:nvSpPr>
        <p:spPr>
          <a:xfrm>
            <a:off x="3657600" y="280035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3A7D6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A7D6A"/>
                </a:solidFill>
                <a:latin typeface="Aptos"/>
                <a:ea typeface="Aptos"/>
                <a:cs typeface="Aptos"/>
              </a:rPr>
              <a:t>Pagos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FACC15F-08CE-4839-B214-F9C55DACF4A2}"/>
              </a:ext>
            </a:extLst>
          </p:cNvPr>
          <p:cNvSpPr>
            <a:spLocks noGrp="1"/>
          </p:cNvSpPr>
          <p:nvPr/>
        </p:nvSpPr>
        <p:spPr>
          <a:xfrm>
            <a:off x="3657600" y="320040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recibos, saldos y estado de cuenta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395CE70-C255-407D-9DAA-F7C29B6661B0}"/>
              </a:ext>
            </a:extLst>
          </p:cNvPr>
          <p:cNvSpPr>
            <a:spLocks noGrp="1"/>
          </p:cNvSpPr>
          <p:nvPr/>
        </p:nvSpPr>
        <p:spPr>
          <a:xfrm>
            <a:off x="6324600" y="2800350"/>
            <a:ext cx="2381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Compras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0B519E8-F4EF-452D-8155-A2B83342B740}"/>
              </a:ext>
            </a:extLst>
          </p:cNvPr>
          <p:cNvSpPr>
            <a:spLocks noGrp="1"/>
          </p:cNvSpPr>
          <p:nvPr/>
        </p:nvSpPr>
        <p:spPr>
          <a:xfrm>
            <a:off x="6324600" y="32004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OC, facturas de compra y cuentas a pagar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A0C71A-4520-4E29-8CF9-845C516F0AE0}"/>
              </a:ext>
            </a:extLst>
          </p:cNvPr>
          <p:cNvSpPr>
            <a:spLocks noGrp="1"/>
          </p:cNvSpPr>
          <p:nvPr/>
        </p:nvSpPr>
        <p:spPr>
          <a:xfrm>
            <a:off x="9144000" y="2800350"/>
            <a:ext cx="2000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A44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A441"/>
                </a:solidFill>
                <a:latin typeface="Aptos"/>
                <a:ea typeface="Aptos"/>
                <a:cs typeface="Aptos"/>
              </a:rPr>
              <a:t>Gerencia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E529DDA-50A2-4EDB-94ED-315B9EA7304E}"/>
              </a:ext>
            </a:extLst>
          </p:cNvPr>
          <p:cNvSpPr>
            <a:spLocks noGrp="1"/>
          </p:cNvSpPr>
          <p:nvPr/>
        </p:nvSpPr>
        <p:spPr>
          <a:xfrm>
            <a:off x="9144000" y="32004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dashboard financiero y exportes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761DB69-0D0A-40CD-B2E2-93CA09C9C716}"/>
              </a:ext>
            </a:extLst>
          </p:cNvPr>
          <p:cNvSpPr>
            <a:spLocks noGrp="1"/>
          </p:cNvSpPr>
          <p:nvPr/>
        </p:nvSpPr>
        <p:spPr>
          <a:xfrm>
            <a:off x="1619250" y="4438650"/>
            <a:ext cx="2571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5098D8D-251A-47B8-87A3-6FD2FEBBC1EC}"/>
              </a:ext>
            </a:extLst>
          </p:cNvPr>
          <p:cNvSpPr>
            <a:spLocks noGrp="1"/>
          </p:cNvSpPr>
          <p:nvPr/>
        </p:nvSpPr>
        <p:spPr>
          <a:xfrm>
            <a:off x="1619250" y="4438650"/>
            <a:ext cx="47625" cy="8191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B2CEC58-3369-4F2C-8A7C-9ACAA190E565}"/>
              </a:ext>
            </a:extLst>
          </p:cNvPr>
          <p:cNvSpPr>
            <a:spLocks noGrp="1"/>
          </p:cNvSpPr>
          <p:nvPr/>
        </p:nvSpPr>
        <p:spPr>
          <a:xfrm>
            <a:off x="1790700" y="4581525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Operacion confirmada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184D5B5-FD6F-4E5D-9FE0-9C3A92E5A114}"/>
              </a:ext>
            </a:extLst>
          </p:cNvPr>
          <p:cNvSpPr>
            <a:spLocks noGrp="1"/>
          </p:cNvSpPr>
          <p:nvPr/>
        </p:nvSpPr>
        <p:spPr>
          <a:xfrm>
            <a:off x="1790700" y="4857750"/>
            <a:ext cx="22479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Documentos, costos y proveedor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557795B-223D-4AAD-9F44-27ADB92492C3}"/>
              </a:ext>
            </a:extLst>
          </p:cNvPr>
          <p:cNvSpPr>
            <a:spLocks noGrp="1"/>
          </p:cNvSpPr>
          <p:nvPr/>
        </p:nvSpPr>
        <p:spPr>
          <a:xfrm>
            <a:off x="4572000" y="4438650"/>
            <a:ext cx="2571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24B923B-8971-4D96-B272-58C2A0020396}"/>
              </a:ext>
            </a:extLst>
          </p:cNvPr>
          <p:cNvSpPr>
            <a:spLocks noGrp="1"/>
          </p:cNvSpPr>
          <p:nvPr/>
        </p:nvSpPr>
        <p:spPr>
          <a:xfrm>
            <a:off x="4572000" y="4438650"/>
            <a:ext cx="47625" cy="8191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31E5414-EC86-434A-9761-585935BF13C2}"/>
              </a:ext>
            </a:extLst>
          </p:cNvPr>
          <p:cNvSpPr>
            <a:spLocks noGrp="1"/>
          </p:cNvSpPr>
          <p:nvPr/>
        </p:nvSpPr>
        <p:spPr>
          <a:xfrm>
            <a:off x="4743450" y="4581525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Control administrativo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E0319F5-52AD-4067-AD74-18E15F756A05}"/>
              </a:ext>
            </a:extLst>
          </p:cNvPr>
          <p:cNvSpPr>
            <a:spLocks noGrp="1"/>
          </p:cNvSpPr>
          <p:nvPr/>
        </p:nvSpPr>
        <p:spPr>
          <a:xfrm>
            <a:off x="4743450" y="4857750"/>
            <a:ext cx="22479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Compras operativas, ordenes de pago y aprobaciones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81946A1-80BC-491F-80F0-94951ECA6E64}"/>
              </a:ext>
            </a:extLst>
          </p:cNvPr>
          <p:cNvSpPr>
            <a:spLocks noGrp="1"/>
          </p:cNvSpPr>
          <p:nvPr/>
        </p:nvSpPr>
        <p:spPr>
          <a:xfrm>
            <a:off x="7524750" y="4438650"/>
            <a:ext cx="2571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591787E-1936-4CFA-B6B7-F9CB5FE373DE}"/>
              </a:ext>
            </a:extLst>
          </p:cNvPr>
          <p:cNvSpPr>
            <a:spLocks noGrp="1"/>
          </p:cNvSpPr>
          <p:nvPr/>
        </p:nvSpPr>
        <p:spPr>
          <a:xfrm>
            <a:off x="7524750" y="4438650"/>
            <a:ext cx="47625" cy="81915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2E75B50-64ED-4777-B69C-36B2626E7D1C}"/>
              </a:ext>
            </a:extLst>
          </p:cNvPr>
          <p:cNvSpPr>
            <a:spLocks noGrp="1"/>
          </p:cNvSpPr>
          <p:nvPr/>
        </p:nvSpPr>
        <p:spPr>
          <a:xfrm>
            <a:off x="7696200" y="4581525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Vista gerencial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194454A-3381-4A9E-92F6-5EEE3B40E555}"/>
              </a:ext>
            </a:extLst>
          </p:cNvPr>
          <p:cNvSpPr>
            <a:spLocks noGrp="1"/>
          </p:cNvSpPr>
          <p:nvPr/>
        </p:nvSpPr>
        <p:spPr>
          <a:xfrm>
            <a:off x="7696200" y="4857750"/>
            <a:ext cx="22479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Facturado, cobrado, gastos, saldos y margen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D26C011-A491-4903-9D12-03FDDC4FAAA2}"/>
              </a:ext>
            </a:extLst>
          </p:cNvPr>
          <p:cNvSpPr>
            <a:spLocks noGrp="1"/>
          </p:cNvSpPr>
          <p:nvPr/>
        </p:nvSpPr>
        <p:spPr>
          <a:xfrm>
            <a:off x="2038350" y="5667375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Menos conciliacion manual. Mas decisiones con datos actualizados.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7C14567-297F-468D-8BB0-7F65634B08D8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559BAEA-B17A-406A-A9B5-350123B6CDD3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ATMCargoSoft | Presentacion comercial para agencias de carga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B13B7AF-93A9-43F5-A1D8-799A2809BCD4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5883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BE8D31E7-5506-4641-AB27-B7ED29FC72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CD8831C-E8FC-447C-9EB4-01BD065624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6CEA65-6423-434C-AC82-811303EEE722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1729BEF-B9C7-4CC8-AA0A-DD155F5A0597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F14BC2B9-E121-4897-9852-DD6024206022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MODULOS DIFERENCIALES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E66EC1A-1294-470C-8676-F175EC5B3347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858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Los modulos diferenciales permiten crecer sin perder foco operativo.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083410F-1050-4DC8-B2FF-121934875367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La plataforma no queda limitada a forwarding puro: acompana unidades de negocio y servicios relacionados.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3D52641-CD5D-4741-940C-91936F4B7EB8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4648200" cy="1104900"/>
          </a:xfrm>
          <a:prstGeom prst="rect">
            <a:avLst/>
          </a:prstGeom>
          <a:solidFill>
            <a:srgbClr val="EDF4F3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298E52-06BA-4BAF-BCE7-3E6DFEA23D5E}"/>
              </a:ext>
            </a:extLst>
          </p:cNvPr>
          <p:cNvSpPr>
            <a:spLocks noGrp="1"/>
          </p:cNvSpPr>
          <p:nvPr/>
        </p:nvSpPr>
        <p:spPr>
          <a:xfrm>
            <a:off x="1181100" y="28765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ATM Cargo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F5E8AD0-4CAB-466B-92F4-D773E8151075}"/>
              </a:ext>
            </a:extLst>
          </p:cNvPr>
          <p:cNvSpPr>
            <a:spLocks noGrp="1"/>
          </p:cNvSpPr>
          <p:nvPr/>
        </p:nvSpPr>
        <p:spPr>
          <a:xfrm>
            <a:off x="1181100" y="3238500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Operaciones aereas, maritimas, terrestres y multimodales con documentos logisticos.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EA3283E-6FA7-42E1-9F83-C3B10D09DB46}"/>
              </a:ext>
            </a:extLst>
          </p:cNvPr>
          <p:cNvSpPr>
            <a:spLocks noGrp="1"/>
          </p:cNvSpPr>
          <p:nvPr/>
        </p:nvSpPr>
        <p:spPr>
          <a:xfrm>
            <a:off x="6134100" y="2686050"/>
            <a:ext cx="4648200" cy="110490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9338AD6-70DE-42DF-85EC-0FB7A09C3E3E}"/>
              </a:ext>
            </a:extLst>
          </p:cNvPr>
          <p:cNvSpPr>
            <a:spLocks noGrp="1"/>
          </p:cNvSpPr>
          <p:nvPr/>
        </p:nvSpPr>
        <p:spPr>
          <a:xfrm>
            <a:off x="6400800" y="287655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ATM Container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7E1BA87-B4B4-4F91-82D7-2B9D1970B802}"/>
              </a:ext>
            </a:extLst>
          </p:cNvPr>
          <p:cNvSpPr>
            <a:spLocks noGrp="1"/>
          </p:cNvSpPr>
          <p:nvPr/>
        </p:nvSpPr>
        <p:spPr>
          <a:xfrm>
            <a:off x="6400800" y="3238500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Maestro de contenedores, contratos, alertas, servicios y facturacion mensual.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B173811-0102-4621-9889-E72EB7F3956A}"/>
              </a:ext>
            </a:extLst>
          </p:cNvPr>
          <p:cNvSpPr>
            <a:spLocks noGrp="1"/>
          </p:cNvSpPr>
          <p:nvPr/>
        </p:nvSpPr>
        <p:spPr>
          <a:xfrm>
            <a:off x="914400" y="4114800"/>
            <a:ext cx="4648200" cy="1104900"/>
          </a:xfrm>
          <a:prstGeom prst="rect">
            <a:avLst/>
          </a:prstGeom>
          <a:solidFill>
            <a:srgbClr val="EDF4F3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CCF0AC2-F42F-411C-9768-7CAA6B6B8B73}"/>
              </a:ext>
            </a:extLst>
          </p:cNvPr>
          <p:cNvSpPr>
            <a:spLocks noGrp="1"/>
          </p:cNvSpPr>
          <p:nvPr/>
        </p:nvSpPr>
        <p:spPr>
          <a:xfrm>
            <a:off x="1181100" y="430530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ATM Industrial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92F1086-9435-4902-A8B8-77DAA45EE411}"/>
              </a:ext>
            </a:extLst>
          </p:cNvPr>
          <p:cNvSpPr>
            <a:spLocks noGrp="1"/>
          </p:cNvSpPr>
          <p:nvPr/>
        </p:nvSpPr>
        <p:spPr>
          <a:xfrm>
            <a:off x="1181100" y="4667250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Cotizaciones industriales, puertas, instalacion, financiacion y planillas especificas.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3E5EB8A-561B-45B7-822A-8306AD12BC41}"/>
              </a:ext>
            </a:extLst>
          </p:cNvPr>
          <p:cNvSpPr>
            <a:spLocks noGrp="1"/>
          </p:cNvSpPr>
          <p:nvPr/>
        </p:nvSpPr>
        <p:spPr>
          <a:xfrm>
            <a:off x="6134100" y="4114800"/>
            <a:ext cx="4648200" cy="110490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C6A826C-CC9D-4C0D-997F-D00D513C67C3}"/>
              </a:ext>
            </a:extLst>
          </p:cNvPr>
          <p:cNvSpPr>
            <a:spLocks noGrp="1"/>
          </p:cNvSpPr>
          <p:nvPr/>
        </p:nvSpPr>
        <p:spPr>
          <a:xfrm>
            <a:off x="6400800" y="430530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Servicio Tecnico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269B768-19C6-4E4D-BCA7-F8C1CC16008E}"/>
              </a:ext>
            </a:extLst>
          </p:cNvPr>
          <p:cNvSpPr>
            <a:spLocks noGrp="1"/>
          </p:cNvSpPr>
          <p:nvPr/>
        </p:nvSpPr>
        <p:spPr>
          <a:xfrm>
            <a:off x="6400800" y="4667250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Casos, puertas de cliente, partes, ordenes de trabajo, historial y cotizaciones adicionales.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F273A60-7754-4AE8-8B2E-903A5347B631}"/>
              </a:ext>
            </a:extLst>
          </p:cNvPr>
          <p:cNvSpPr>
            <a:spLocks noGrp="1"/>
          </p:cNvSpPr>
          <p:nvPr/>
        </p:nvSpPr>
        <p:spPr>
          <a:xfrm>
            <a:off x="1581150" y="575310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Esto abre una venta consultiva: ordenar primero la agencia y luego sumar procesos especificos por negocio.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FE78571-906B-4D2E-8612-C8EB05BCA002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09D5A21-A87E-486C-A081-75EFA065816F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ATMCargoSoft | Presentacion comercial para agencias de carga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7DBBC57-B5F6-4469-9B59-B96A28F401DD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4487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75F5502D-3147-4BC6-9FD3-ADA2ED7B34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D60DA99-EC51-4507-BBD1-0867570945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BA067C-8DBC-41D5-B081-1B54240534C5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565565-CB23-4696-BBC3-A9CA08A4D0D9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5415C5A7-4256-4A46-8104-97D489E40DDB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GOBIERNO Y SEGURIDAD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7BBA556-F791-42A1-92A9-D12ABD40FB3B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79057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Control y trazabilidad reducen dependencia de personas clave.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A652CFE-7B95-4F42-9202-BB0C7F8DBA75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El sistema registra quien puede ver, aprobar, editar y consultar informacion sensible.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B9C6A76-C04D-4403-A264-9412552558CF}"/>
              </a:ext>
            </a:extLst>
          </p:cNvPr>
          <p:cNvSpPr>
            <a:spLocks noGrp="1"/>
          </p:cNvSpPr>
          <p:nvPr/>
        </p:nvSpPr>
        <p:spPr>
          <a:xfrm>
            <a:off x="895350" y="2705100"/>
            <a:ext cx="990600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D97FB8-2F68-4EAF-A9A3-A408F8225E2A}"/>
              </a:ext>
            </a:extLst>
          </p:cNvPr>
          <p:cNvSpPr>
            <a:spLocks noGrp="1"/>
          </p:cNvSpPr>
          <p:nvPr/>
        </p:nvSpPr>
        <p:spPr>
          <a:xfrm>
            <a:off x="1238250" y="3105150"/>
            <a:ext cx="2000250" cy="1085850"/>
          </a:xfrm>
          <a:prstGeom prst="rect">
            <a:avLst/>
          </a:prstGeom>
          <a:solidFill>
            <a:srgbClr val="FBFAF6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B376C7-8413-49D2-87CD-732967F0BD98}"/>
              </a:ext>
            </a:extLst>
          </p:cNvPr>
          <p:cNvSpPr>
            <a:spLocks noGrp="1"/>
          </p:cNvSpPr>
          <p:nvPr/>
        </p:nvSpPr>
        <p:spPr>
          <a:xfrm>
            <a:off x="1238250" y="3105150"/>
            <a:ext cx="47625" cy="10858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74552FC-9CEF-4A9B-8B9E-EFBD68206C06}"/>
              </a:ext>
            </a:extLst>
          </p:cNvPr>
          <p:cNvSpPr>
            <a:spLocks noGrp="1"/>
          </p:cNvSpPr>
          <p:nvPr/>
        </p:nvSpPr>
        <p:spPr>
          <a:xfrm>
            <a:off x="1409700" y="3248025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Roles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D23D4CF-AD78-4F5F-885E-464FD6EDA6B2}"/>
              </a:ext>
            </a:extLst>
          </p:cNvPr>
          <p:cNvSpPr>
            <a:spLocks noGrp="1"/>
          </p:cNvSpPr>
          <p:nvPr/>
        </p:nvSpPr>
        <p:spPr>
          <a:xfrm>
            <a:off x="1409700" y="3524250"/>
            <a:ext cx="1676400" cy="561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Admin, manager, finanzas, service y permisos por modulo.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A65D239-96CD-4579-BA31-CE5695729422}"/>
              </a:ext>
            </a:extLst>
          </p:cNvPr>
          <p:cNvSpPr>
            <a:spLocks noGrp="1"/>
          </p:cNvSpPr>
          <p:nvPr/>
        </p:nvSpPr>
        <p:spPr>
          <a:xfrm>
            <a:off x="3600450" y="3105150"/>
            <a:ext cx="2000250" cy="1085850"/>
          </a:xfrm>
          <a:prstGeom prst="rect">
            <a:avLst/>
          </a:prstGeom>
          <a:solidFill>
            <a:srgbClr val="FBFAF6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6BCC6D3-275C-4D60-B9EF-229FDC79CE9B}"/>
              </a:ext>
            </a:extLst>
          </p:cNvPr>
          <p:cNvSpPr>
            <a:spLocks noGrp="1"/>
          </p:cNvSpPr>
          <p:nvPr/>
        </p:nvSpPr>
        <p:spPr>
          <a:xfrm>
            <a:off x="3600450" y="3105150"/>
            <a:ext cx="47625" cy="108585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0587A2E-3EAB-4BD3-BA98-2A35A487AACE}"/>
              </a:ext>
            </a:extLst>
          </p:cNvPr>
          <p:cNvSpPr>
            <a:spLocks noGrp="1"/>
          </p:cNvSpPr>
          <p:nvPr/>
        </p:nvSpPr>
        <p:spPr>
          <a:xfrm>
            <a:off x="3771900" y="3248025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Auditoria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AE252B9-8709-494E-90A5-8D88A0DDEF96}"/>
              </a:ext>
            </a:extLst>
          </p:cNvPr>
          <p:cNvSpPr>
            <a:spLocks noGrp="1"/>
          </p:cNvSpPr>
          <p:nvPr/>
        </p:nvSpPr>
        <p:spPr>
          <a:xfrm>
            <a:off x="3771900" y="3524250"/>
            <a:ext cx="1676400" cy="561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Eventos de sistema para seguimiento de acciones.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8B2DDFC-E3DF-41F9-B62C-C3E3A117B9A2}"/>
              </a:ext>
            </a:extLst>
          </p:cNvPr>
          <p:cNvSpPr>
            <a:spLocks noGrp="1"/>
          </p:cNvSpPr>
          <p:nvPr/>
        </p:nvSpPr>
        <p:spPr>
          <a:xfrm>
            <a:off x="5962650" y="3105150"/>
            <a:ext cx="2000250" cy="1085850"/>
          </a:xfrm>
          <a:prstGeom prst="rect">
            <a:avLst/>
          </a:prstGeom>
          <a:solidFill>
            <a:srgbClr val="FBFAF6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3416806-1A3D-4E3F-81CC-7FABE461C19B}"/>
              </a:ext>
            </a:extLst>
          </p:cNvPr>
          <p:cNvSpPr>
            <a:spLocks noGrp="1"/>
          </p:cNvSpPr>
          <p:nvPr/>
        </p:nvSpPr>
        <p:spPr>
          <a:xfrm>
            <a:off x="5962650" y="3105150"/>
            <a:ext cx="47625" cy="10858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22B6C08-FF8E-4165-BBDC-28CB00F06427}"/>
              </a:ext>
            </a:extLst>
          </p:cNvPr>
          <p:cNvSpPr>
            <a:spLocks noGrp="1"/>
          </p:cNvSpPr>
          <p:nvPr/>
        </p:nvSpPr>
        <p:spPr>
          <a:xfrm>
            <a:off x="6134100" y="3248025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Documentos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29DFCC4-FADD-4A3E-9373-27FA725BC384}"/>
              </a:ext>
            </a:extLst>
          </p:cNvPr>
          <p:cNvSpPr>
            <a:spLocks noGrp="1"/>
          </p:cNvSpPr>
          <p:nvPr/>
        </p:nvSpPr>
        <p:spPr>
          <a:xfrm>
            <a:off x="6134100" y="3524250"/>
            <a:ext cx="1676400" cy="561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Archivos por operacion con etiquetas y descarga controlada.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67BACC0-5F0B-42C6-AC81-A327B29D2AEB}"/>
              </a:ext>
            </a:extLst>
          </p:cNvPr>
          <p:cNvSpPr>
            <a:spLocks noGrp="1"/>
          </p:cNvSpPr>
          <p:nvPr/>
        </p:nvSpPr>
        <p:spPr>
          <a:xfrm>
            <a:off x="8324850" y="3105150"/>
            <a:ext cx="2000250" cy="1085850"/>
          </a:xfrm>
          <a:prstGeom prst="rect">
            <a:avLst/>
          </a:prstGeom>
          <a:solidFill>
            <a:srgbClr val="FBFAF6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A0683C2-B4AA-42BB-8D2C-461DBF7CE922}"/>
              </a:ext>
            </a:extLst>
          </p:cNvPr>
          <p:cNvSpPr>
            <a:spLocks noGrp="1"/>
          </p:cNvSpPr>
          <p:nvPr/>
        </p:nvSpPr>
        <p:spPr>
          <a:xfrm>
            <a:off x="8324850" y="3105150"/>
            <a:ext cx="47625" cy="1085850"/>
          </a:xfrm>
          <a:prstGeom prst="rect">
            <a:avLst/>
          </a:prstGeom>
          <a:solidFill>
            <a:srgbClr val="D7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EB1C1C9-5624-4B4C-A036-7BDE6F852DFF}"/>
              </a:ext>
            </a:extLst>
          </p:cNvPr>
          <p:cNvSpPr>
            <a:spLocks noGrp="1"/>
          </p:cNvSpPr>
          <p:nvPr/>
        </p:nvSpPr>
        <p:spPr>
          <a:xfrm>
            <a:off x="8496300" y="3248025"/>
            <a:ext cx="1676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Sesion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9B31035-F5C0-412D-AD03-0E5969E7E4B5}"/>
              </a:ext>
            </a:extLst>
          </p:cNvPr>
          <p:cNvSpPr>
            <a:spLocks noGrp="1"/>
          </p:cNvSpPr>
          <p:nvPr/>
        </p:nvSpPr>
        <p:spPr>
          <a:xfrm>
            <a:off x="8496300" y="3524250"/>
            <a:ext cx="1676400" cy="561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Autenticacion, cookies seguras y control de acceso.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E16F359-CF8C-4D1D-8126-BE97F7DEF31F}"/>
              </a:ext>
            </a:extLst>
          </p:cNvPr>
          <p:cNvSpPr>
            <a:spLocks noGrp="1"/>
          </p:cNvSpPr>
          <p:nvPr/>
        </p:nvSpPr>
        <p:spPr>
          <a:xfrm>
            <a:off x="1714500" y="542925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Para el cliente comprador, esto significa continuidad operativa: la informacion queda en la empresa, no solo en la memoria del equipo.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026EB8C-141B-4D16-9E70-64B4AB30BE34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949E10E-D52B-4423-9DFF-0CCE59FF4BC2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ATMCargoSoft | Presentacion comercial para agencias de carga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72A15C0-8489-4F27-8B52-1AC597353B8B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3546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737A0334-B163-4D33-AA0A-456F493E90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DEEEB46-927D-40B4-A8B8-5E70DF0A9D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27BD64E-F632-4BA5-AB9F-A4B7E613EDD8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98832E7-7591-410E-8905-F552B09E1C97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FC058B66-12BE-409A-A110-90615BA360E3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BENEFICIOS POR AREA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E7A516E-6E5F-4643-B434-7CA0F35F5F6E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953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Cada area compra un beneficio distinto, pero todas ganan con el mismo sistema.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1E15B5C-FAFA-4A40-A336-252761A394FB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7239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El discurso comercial debe conectar el valor con el rol de quien toma la decision.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F341558-10F3-4D7A-BE8C-D5E0E06A14DB}"/>
              </a:ext>
            </a:extLst>
          </p:cNvPr>
          <p:cNvSpPr>
            <a:spLocks noGrp="1"/>
          </p:cNvSpPr>
          <p:nvPr/>
        </p:nvSpPr>
        <p:spPr>
          <a:xfrm>
            <a:off x="819150" y="2838450"/>
            <a:ext cx="22479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ECD90D0-8EA0-416E-AB77-B92215788067}"/>
              </a:ext>
            </a:extLst>
          </p:cNvPr>
          <p:cNvSpPr>
            <a:spLocks noGrp="1"/>
          </p:cNvSpPr>
          <p:nvPr/>
        </p:nvSpPr>
        <p:spPr>
          <a:xfrm>
            <a:off x="819150" y="2838450"/>
            <a:ext cx="2247900" cy="952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88B68FA-09E0-44FF-822A-14746CA05984}"/>
              </a:ext>
            </a:extLst>
          </p:cNvPr>
          <p:cNvSpPr>
            <a:spLocks noGrp="1"/>
          </p:cNvSpPr>
          <p:nvPr/>
        </p:nvSpPr>
        <p:spPr>
          <a:xfrm>
            <a:off x="1047750" y="32004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Direccion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D9016C0-9D3F-49CD-A699-301AC530E6D7}"/>
              </a:ext>
            </a:extLst>
          </p:cNvPr>
          <p:cNvSpPr>
            <a:spLocks noGrp="1"/>
          </p:cNvSpPr>
          <p:nvPr/>
        </p:nvSpPr>
        <p:spPr>
          <a:xfrm>
            <a:off x="1047750" y="3676650"/>
            <a:ext cx="16954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Visibilidad de pipeline, rentabilidad, facturado, cobrado y gastos.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C6C5D4D-46D5-4EC2-AE3A-3FC96D777A9F}"/>
              </a:ext>
            </a:extLst>
          </p:cNvPr>
          <p:cNvSpPr>
            <a:spLocks noGrp="1"/>
          </p:cNvSpPr>
          <p:nvPr/>
        </p:nvSpPr>
        <p:spPr>
          <a:xfrm>
            <a:off x="3505200" y="2838450"/>
            <a:ext cx="22479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06AD17A-BD1E-4C26-B36A-12700D906303}"/>
              </a:ext>
            </a:extLst>
          </p:cNvPr>
          <p:cNvSpPr>
            <a:spLocks noGrp="1"/>
          </p:cNvSpPr>
          <p:nvPr/>
        </p:nvSpPr>
        <p:spPr>
          <a:xfrm>
            <a:off x="3505200" y="2838450"/>
            <a:ext cx="2247900" cy="952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14B9BB5-A1A3-4353-B81C-111C2644E93C}"/>
              </a:ext>
            </a:extLst>
          </p:cNvPr>
          <p:cNvSpPr>
            <a:spLocks noGrp="1"/>
          </p:cNvSpPr>
          <p:nvPr/>
        </p:nvSpPr>
        <p:spPr>
          <a:xfrm>
            <a:off x="3733800" y="32004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Ventas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A5B8D9-77F9-4F06-AC1E-E5502CA49920}"/>
              </a:ext>
            </a:extLst>
          </p:cNvPr>
          <p:cNvSpPr>
            <a:spLocks noGrp="1"/>
          </p:cNvSpPr>
          <p:nvPr/>
        </p:nvSpPr>
        <p:spPr>
          <a:xfrm>
            <a:off x="3733800" y="3676650"/>
            <a:ext cx="16954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Seguimiento comercial, cotizaciones formales y menos reproceso.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A6ED3AC-274A-47DF-9C32-296C1BC4FCA2}"/>
              </a:ext>
            </a:extLst>
          </p:cNvPr>
          <p:cNvSpPr>
            <a:spLocks noGrp="1"/>
          </p:cNvSpPr>
          <p:nvPr/>
        </p:nvSpPr>
        <p:spPr>
          <a:xfrm>
            <a:off x="6191250" y="2838450"/>
            <a:ext cx="22479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0B644C3-77E4-4605-9935-FC094392943A}"/>
              </a:ext>
            </a:extLst>
          </p:cNvPr>
          <p:cNvSpPr>
            <a:spLocks noGrp="1"/>
          </p:cNvSpPr>
          <p:nvPr/>
        </p:nvSpPr>
        <p:spPr>
          <a:xfrm>
            <a:off x="6191250" y="2838450"/>
            <a:ext cx="2247900" cy="9525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867E943-35CB-4C1F-B3F6-6E24C24F7804}"/>
              </a:ext>
            </a:extLst>
          </p:cNvPr>
          <p:cNvSpPr>
            <a:spLocks noGrp="1"/>
          </p:cNvSpPr>
          <p:nvPr/>
        </p:nvSpPr>
        <p:spPr>
          <a:xfrm>
            <a:off x="6419850" y="32004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Operaciones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56E042-2886-4B7D-A913-A36E6F2F8E62}"/>
              </a:ext>
            </a:extLst>
          </p:cNvPr>
          <p:cNvSpPr>
            <a:spLocks noGrp="1"/>
          </p:cNvSpPr>
          <p:nvPr/>
        </p:nvSpPr>
        <p:spPr>
          <a:xfrm>
            <a:off x="6419850" y="3676650"/>
            <a:ext cx="16954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Expediente unico, documentos, fechas, proveedores y reportes.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21A7F8C-DE37-4CB3-A495-89849CE370B7}"/>
              </a:ext>
            </a:extLst>
          </p:cNvPr>
          <p:cNvSpPr>
            <a:spLocks noGrp="1"/>
          </p:cNvSpPr>
          <p:nvPr/>
        </p:nvSpPr>
        <p:spPr>
          <a:xfrm>
            <a:off x="8877300" y="2838450"/>
            <a:ext cx="22479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06CDA0F-9125-4A82-80AC-BCAAB944BD96}"/>
              </a:ext>
            </a:extLst>
          </p:cNvPr>
          <p:cNvSpPr>
            <a:spLocks noGrp="1"/>
          </p:cNvSpPr>
          <p:nvPr/>
        </p:nvSpPr>
        <p:spPr>
          <a:xfrm>
            <a:off x="8877300" y="2838450"/>
            <a:ext cx="2247900" cy="95250"/>
          </a:xfrm>
          <a:prstGeom prst="rect">
            <a:avLst/>
          </a:prstGeom>
          <a:solidFill>
            <a:srgbClr val="D7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07010BC-BA0A-4564-BE82-7614C1392409}"/>
              </a:ext>
            </a:extLst>
          </p:cNvPr>
          <p:cNvSpPr>
            <a:spLocks noGrp="1"/>
          </p:cNvSpPr>
          <p:nvPr/>
        </p:nvSpPr>
        <p:spPr>
          <a:xfrm>
            <a:off x="9105900" y="32004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Finanzas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4093836-B688-4420-8D68-B4C77EB8FFDB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16954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Facturas, saldos, pagos, compras y cuentas a pagar conectadas.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964DC18-D279-4093-96DF-E9D1FFAE3CAC}"/>
              </a:ext>
            </a:extLst>
          </p:cNvPr>
          <p:cNvSpPr>
            <a:spLocks noGrp="1"/>
          </p:cNvSpPr>
          <p:nvPr/>
        </p:nvSpPr>
        <p:spPr>
          <a:xfrm>
            <a:off x="1924050" y="54768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La venta no es 'otro software': es menos friccion entre areas criticas.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F97085E-D826-406C-9599-D6CD08953030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6CB446F-A9CD-45A3-AEEA-4C094D289E34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ATMCargoSoft | Presentacion comercial para agencias de carga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C3E510-2764-4658-963E-1F78C3B9DE28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2562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26E97A5A-8868-4C2C-A3EE-07352B2E9E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F819D07-A77B-4596-BE5E-84661C059F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664F753-E63A-4E42-A6F9-7FB7A2928B3C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734F934-DBFB-4524-9605-152953B09C6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8763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0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Ordenar</a:t>
            </a:r>
            <a:r>
              <a:rPr sz="39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la </a:t>
            </a:r>
            <a:r>
              <a:rPr sz="390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agencia</a:t>
            </a:r>
            <a:r>
              <a:rPr sz="39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hoy, </a:t>
            </a:r>
            <a:r>
              <a:rPr sz="390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escalar</a:t>
            </a:r>
            <a:r>
              <a:rPr sz="39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ma</a:t>
            </a:r>
            <a:r>
              <a:rPr lang="es-ES" sz="39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ñ</a:t>
            </a:r>
            <a:r>
              <a:rPr sz="39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3F54EC3-652B-4944-AB1C-5EDD54C2644A}"/>
              </a:ext>
            </a:extLst>
          </p:cNvPr>
          <p:cNvSpPr>
            <a:spLocks noGrp="1"/>
          </p:cNvSpPr>
          <p:nvPr/>
        </p:nvSpPr>
        <p:spPr>
          <a:xfrm>
            <a:off x="857250" y="2419350"/>
            <a:ext cx="7143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9D7D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9D7DF"/>
                </a:solidFill>
                <a:latin typeface="Aptos"/>
                <a:ea typeface="Aptos"/>
                <a:cs typeface="Aptos"/>
              </a:rPr>
              <a:t>ATMCargoSoft permite vender mejor, operar con mas control y dirigir con informacion financiera conectada.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6796068-FFE6-4CE4-85F7-2F8B9F4E5038}"/>
              </a:ext>
            </a:extLst>
          </p:cNvPr>
          <p:cNvSpPr>
            <a:spLocks noGrp="1"/>
          </p:cNvSpPr>
          <p:nvPr/>
        </p:nvSpPr>
        <p:spPr>
          <a:xfrm>
            <a:off x="819150" y="3600450"/>
            <a:ext cx="9791700" cy="1162050"/>
          </a:xfrm>
          <a:prstGeom prst="rect">
            <a:avLst/>
          </a:prstGeom>
          <a:solidFill>
            <a:srgbClr val="132B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C1EA4D0-9222-4CAF-AF29-BA8EE9EBB3DC}"/>
              </a:ext>
            </a:extLst>
          </p:cNvPr>
          <p:cNvSpPr>
            <a:spLocks noGrp="1"/>
          </p:cNvSpPr>
          <p:nvPr/>
        </p:nvSpPr>
        <p:spPr>
          <a:xfrm>
            <a:off x="1181100" y="4000500"/>
            <a:ext cx="2381250" cy="323850"/>
          </a:xfrm>
          <a:prstGeom prst="rect">
            <a:avLst/>
          </a:prstGeom>
          <a:solidFill>
            <a:srgbClr val="2F6F8F"/>
          </a:solidFill>
          <a:ln w="9525">
            <a:solidFill>
              <a:srgbClr val="2F6F8F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112F3E5-9EE7-40C2-8B19-3D29968B4587}"/>
              </a:ext>
            </a:extLst>
          </p:cNvPr>
          <p:cNvSpPr>
            <a:spLocks noGrp="1"/>
          </p:cNvSpPr>
          <p:nvPr/>
        </p:nvSpPr>
        <p:spPr>
          <a:xfrm>
            <a:off x="1304925" y="4067175"/>
            <a:ext cx="2133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Diagnostico de proceso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4B4C30A-4D06-4515-9747-E73DAE92E2F3}"/>
              </a:ext>
            </a:extLst>
          </p:cNvPr>
          <p:cNvSpPr>
            <a:spLocks noGrp="1"/>
          </p:cNvSpPr>
          <p:nvPr/>
        </p:nvSpPr>
        <p:spPr>
          <a:xfrm>
            <a:off x="3829050" y="4000500"/>
            <a:ext cx="2571750" cy="323850"/>
          </a:xfrm>
          <a:prstGeom prst="rect">
            <a:avLst/>
          </a:prstGeom>
          <a:solidFill>
            <a:srgbClr val="D46A37"/>
          </a:solidFill>
          <a:ln w="9525">
            <a:solidFill>
              <a:srgbClr val="D46A37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29D7EB4-384F-41AD-8D1C-39D595CF9BE5}"/>
              </a:ext>
            </a:extLst>
          </p:cNvPr>
          <p:cNvSpPr>
            <a:spLocks noGrp="1"/>
          </p:cNvSpPr>
          <p:nvPr/>
        </p:nvSpPr>
        <p:spPr>
          <a:xfrm>
            <a:off x="3952875" y="4067175"/>
            <a:ext cx="2324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Parametrizacion regional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5C8FD02-D288-4D5E-AA5D-0B1659EA0D3D}"/>
              </a:ext>
            </a:extLst>
          </p:cNvPr>
          <p:cNvSpPr>
            <a:spLocks noGrp="1"/>
          </p:cNvSpPr>
          <p:nvPr/>
        </p:nvSpPr>
        <p:spPr>
          <a:xfrm>
            <a:off x="6686550" y="4000500"/>
            <a:ext cx="2286000" cy="323850"/>
          </a:xfrm>
          <a:prstGeom prst="rect">
            <a:avLst/>
          </a:prstGeom>
          <a:solidFill>
            <a:srgbClr val="3A7D6A"/>
          </a:solidFill>
          <a:ln w="9525">
            <a:solidFill>
              <a:srgbClr val="3A7D6A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B4F1024-2C29-4F60-814F-F817DACEC655}"/>
              </a:ext>
            </a:extLst>
          </p:cNvPr>
          <p:cNvSpPr>
            <a:spLocks noGrp="1"/>
          </p:cNvSpPr>
          <p:nvPr/>
        </p:nvSpPr>
        <p:spPr>
          <a:xfrm>
            <a:off x="6810375" y="4067175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Go-live por modulos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5585DB7-B865-41AF-94FA-5E17AAF4B424}"/>
              </a:ext>
            </a:extLst>
          </p:cNvPr>
          <p:cNvSpPr>
            <a:spLocks noGrp="1"/>
          </p:cNvSpPr>
          <p:nvPr/>
        </p:nvSpPr>
        <p:spPr>
          <a:xfrm>
            <a:off x="1219200" y="5200650"/>
            <a:ext cx="800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Proxima </a:t>
            </a:r>
            <a:r>
              <a:rPr sz="150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conversacion</a:t>
            </a:r>
            <a:r>
              <a:rPr sz="15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sugerida</a:t>
            </a:r>
            <a:r>
              <a:rPr sz="15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: </a:t>
            </a:r>
            <a:r>
              <a:rPr sz="150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mostrar</a:t>
            </a:r>
            <a:r>
              <a:rPr sz="15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una</a:t>
            </a:r>
            <a:r>
              <a:rPr sz="15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demo con </a:t>
            </a:r>
            <a:r>
              <a:rPr sz="150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una</a:t>
            </a:r>
            <a:r>
              <a:rPr sz="15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operacion</a:t>
            </a:r>
            <a:r>
              <a:rPr sz="15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real, </a:t>
            </a:r>
            <a:r>
              <a:rPr sz="150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desde</a:t>
            </a:r>
            <a:r>
              <a:rPr sz="150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deal hasta factura y profit.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DB0BA2F-A6A7-4955-8326-DCB65B2A89DB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FA3B0"/>
                </a:solidFill>
                <a:latin typeface="Aptos"/>
                <a:ea typeface="Aptos"/>
                <a:cs typeface="Aptos"/>
              </a:defRPr>
            </a:pPr>
            <a:r>
              <a:rPr sz="750" b="0" dirty="0">
                <a:solidFill>
                  <a:srgbClr val="8FA3B0"/>
                </a:solidFill>
                <a:latin typeface="Aptos"/>
                <a:ea typeface="Aptos"/>
                <a:cs typeface="Aptos"/>
              </a:rPr>
              <a:t>Claims </a:t>
            </a:r>
            <a:r>
              <a:rPr sz="750" b="0" dirty="0" err="1">
                <a:solidFill>
                  <a:srgbClr val="8FA3B0"/>
                </a:solidFill>
                <a:latin typeface="Aptos"/>
                <a:ea typeface="Aptos"/>
                <a:cs typeface="Aptos"/>
              </a:rPr>
              <a:t>limitados</a:t>
            </a:r>
            <a:r>
              <a:rPr sz="750" b="0" dirty="0">
                <a:solidFill>
                  <a:srgbClr val="8FA3B0"/>
                </a:solidFill>
                <a:latin typeface="Aptos"/>
                <a:ea typeface="Aptos"/>
                <a:cs typeface="Aptos"/>
              </a:rPr>
              <a:t> a </a:t>
            </a:r>
            <a:r>
              <a:rPr sz="750" b="0" dirty="0" err="1">
                <a:solidFill>
                  <a:srgbClr val="8FA3B0"/>
                </a:solidFill>
                <a:latin typeface="Aptos"/>
                <a:ea typeface="Aptos"/>
                <a:cs typeface="Aptos"/>
              </a:rPr>
              <a:t>capacidades</a:t>
            </a:r>
            <a:r>
              <a:rPr sz="750" b="0" dirty="0">
                <a:solidFill>
                  <a:srgbClr val="8FA3B0"/>
                </a:solidFill>
                <a:latin typeface="Aptos"/>
                <a:ea typeface="Aptos"/>
                <a:cs typeface="Aptos"/>
              </a:rPr>
              <a:t> </a:t>
            </a:r>
            <a:r>
              <a:rPr sz="750" b="0" dirty="0" err="1">
                <a:solidFill>
                  <a:srgbClr val="8FA3B0"/>
                </a:solidFill>
                <a:latin typeface="Aptos"/>
                <a:ea typeface="Aptos"/>
                <a:cs typeface="Aptos"/>
              </a:rPr>
              <a:t>inspeccionadas</a:t>
            </a:r>
            <a:r>
              <a:rPr sz="750" b="0" dirty="0">
                <a:solidFill>
                  <a:srgbClr val="8FA3B0"/>
                </a:solidFill>
                <a:latin typeface="Aptos"/>
                <a:ea typeface="Aptos"/>
                <a:cs typeface="Aptos"/>
              </a:rPr>
              <a:t> del </a:t>
            </a:r>
            <a:r>
              <a:rPr sz="750" b="0" dirty="0" err="1">
                <a:solidFill>
                  <a:srgbClr val="8FA3B0"/>
                </a:solidFill>
                <a:latin typeface="Aptos"/>
                <a:ea typeface="Aptos"/>
                <a:cs typeface="Aptos"/>
              </a:rPr>
              <a:t>proyecto</a:t>
            </a:r>
            <a:r>
              <a:rPr sz="750" b="0" dirty="0">
                <a:solidFill>
                  <a:srgbClr val="8FA3B0"/>
                </a:solidFill>
                <a:latin typeface="Aptos"/>
                <a:ea typeface="Aptos"/>
                <a:cs typeface="Aptos"/>
              </a:rPr>
              <a:t>. No se </a:t>
            </a:r>
            <a:r>
              <a:rPr sz="750" b="0" dirty="0" err="1">
                <a:solidFill>
                  <a:srgbClr val="8FA3B0"/>
                </a:solidFill>
                <a:latin typeface="Aptos"/>
                <a:ea typeface="Aptos"/>
                <a:cs typeface="Aptos"/>
              </a:rPr>
              <a:t>prometen</a:t>
            </a:r>
            <a:r>
              <a:rPr sz="750" b="0" dirty="0">
                <a:solidFill>
                  <a:srgbClr val="8FA3B0"/>
                </a:solidFill>
                <a:latin typeface="Aptos"/>
                <a:ea typeface="Aptos"/>
                <a:cs typeface="Aptos"/>
              </a:rPr>
              <a:t> tracking </a:t>
            </a:r>
            <a:r>
              <a:rPr sz="750" b="0" dirty="0" err="1">
                <a:solidFill>
                  <a:srgbClr val="8FA3B0"/>
                </a:solidFill>
                <a:latin typeface="Aptos"/>
                <a:ea typeface="Aptos"/>
                <a:cs typeface="Aptos"/>
              </a:rPr>
              <a:t>automatico</a:t>
            </a:r>
            <a:r>
              <a:rPr sz="750" b="0" dirty="0">
                <a:solidFill>
                  <a:srgbClr val="8FA3B0"/>
                </a:solidFill>
                <a:latin typeface="Aptos"/>
                <a:ea typeface="Aptos"/>
                <a:cs typeface="Aptos"/>
              </a:rPr>
              <a:t> de carriers, portal </a:t>
            </a:r>
            <a:r>
              <a:rPr sz="750" b="0" dirty="0" err="1">
                <a:solidFill>
                  <a:srgbClr val="8FA3B0"/>
                </a:solidFill>
                <a:latin typeface="Aptos"/>
                <a:ea typeface="Aptos"/>
                <a:cs typeface="Aptos"/>
              </a:rPr>
              <a:t>cliente</a:t>
            </a:r>
            <a:r>
              <a:rPr sz="750" b="0" dirty="0">
                <a:solidFill>
                  <a:srgbClr val="8FA3B0"/>
                </a:solidFill>
                <a:latin typeface="Aptos"/>
                <a:ea typeface="Aptos"/>
                <a:cs typeface="Aptos"/>
              </a:rPr>
              <a:t> o </a:t>
            </a:r>
            <a:r>
              <a:rPr sz="750" b="0" dirty="0" err="1">
                <a:solidFill>
                  <a:srgbClr val="8FA3B0"/>
                </a:solidFill>
                <a:latin typeface="Aptos"/>
                <a:ea typeface="Aptos"/>
                <a:cs typeface="Aptos"/>
              </a:rPr>
              <a:t>integraciones</a:t>
            </a:r>
            <a:r>
              <a:rPr sz="750" b="0" dirty="0">
                <a:solidFill>
                  <a:srgbClr val="8FA3B0"/>
                </a:solidFill>
                <a:latin typeface="Aptos"/>
                <a:ea typeface="Aptos"/>
                <a:cs typeface="Aptos"/>
              </a:rPr>
              <a:t> </a:t>
            </a:r>
            <a:r>
              <a:rPr sz="750" b="0" dirty="0" err="1">
                <a:solidFill>
                  <a:srgbClr val="8FA3B0"/>
                </a:solidFill>
                <a:latin typeface="Aptos"/>
                <a:ea typeface="Aptos"/>
                <a:cs typeface="Aptos"/>
              </a:rPr>
              <a:t>aduaneras</a:t>
            </a:r>
            <a:r>
              <a:rPr sz="750" b="0" dirty="0">
                <a:solidFill>
                  <a:srgbClr val="8FA3B0"/>
                </a:solidFill>
                <a:latin typeface="Aptos"/>
                <a:ea typeface="Aptos"/>
                <a:cs typeface="Aptos"/>
              </a:rPr>
              <a:t> no </a:t>
            </a:r>
            <a:r>
              <a:rPr sz="750" b="0" dirty="0" err="1">
                <a:solidFill>
                  <a:srgbClr val="8FA3B0"/>
                </a:solidFill>
                <a:latin typeface="Aptos"/>
                <a:ea typeface="Aptos"/>
                <a:cs typeface="Aptos"/>
              </a:rPr>
              <a:t>validadas</a:t>
            </a:r>
            <a:r>
              <a:rPr sz="750" b="0" dirty="0">
                <a:solidFill>
                  <a:srgbClr val="8FA3B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E2F2AC6-9FF8-4BC9-92DD-CB945CFBEA5C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2C3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3AEA390-BA3F-4075-9194-277787D5C881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A3B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A3B0"/>
                </a:solidFill>
                <a:latin typeface="Aptos"/>
                <a:ea typeface="Aptos"/>
                <a:cs typeface="Aptos"/>
              </a:rPr>
              <a:t>ATMCargoSoft | Presentacion comercial para agencias de carga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61F0E77-F589-4A78-8E20-119BD4A9AF94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E9F1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F1F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08988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1295</Words>
  <Application>Microsoft Office PowerPoint</Application>
  <DocSecurity>0</DocSecurity>
  <PresentationFormat>Panorámica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Calibri</vt:lpstr>
      <vt:lpstr>Georgia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Rodrigo Robadin Grupo ATM</cp:lastModifiedBy>
  <cp:revision>1</cp:revision>
  <dcterms:created xsi:type="dcterms:W3CDTF">2026-05-25T14:07:32Z</dcterms:created>
  <dcterms:modified xsi:type="dcterms:W3CDTF">2026-05-25T21:20:12Z</dcterms:modified>
</cp:coreProperties>
</file>