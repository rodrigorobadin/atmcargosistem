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ángulo 37">
            <a:extLst>
              <a:ext uri="{FF2B5EF4-FFF2-40B4-BE49-F238E27FC236}">
                <a16:creationId xmlns:a16="http://schemas.microsoft.com/office/drawing/2014/main" id="{C3D5BFB6-19D9-4456-B541-A25FD88A016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A50575C-5DBD-4A09-B5BD-CC3810BC05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632976-10E6-4052-A3F6-57376A927F0D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BCCCD0F-8129-447D-9D92-BC1A3F0104B8}"/>
              </a:ext>
            </a:extLst>
          </p:cNvPr>
          <p:cNvSpPr>
            <a:spLocks noGrp="1"/>
          </p:cNvSpPr>
          <p:nvPr/>
        </p:nvSpPr>
        <p:spPr>
          <a:xfrm>
            <a:off x="666750" y="514350"/>
            <a:ext cx="4953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 CARGO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B2D17859-ADD6-4764-B7BC-152C259E4C60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72390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El sistema operativo para agencias de carga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41049FCE-E77E-48B6-8EC0-A734181FA769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6572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9D7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7DF"/>
                </a:solidFill>
                <a:latin typeface="Aptos"/>
                <a:ea typeface="Aptos"/>
                <a:cs typeface="Aptos"/>
              </a:rPr>
              <a:t>Del prospecto a la cotizacion, de la operacion al documento, del costo al cobro.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FB70FBA1-4D74-4237-82EE-1931949C1091}"/>
              </a:ext>
            </a:extLst>
          </p:cNvPr>
          <p:cNvSpPr>
            <a:spLocks noGrp="1"/>
          </p:cNvSpPr>
          <p:nvPr/>
        </p:nvSpPr>
        <p:spPr>
          <a:xfrm>
            <a:off x="7810500" y="1056968"/>
            <a:ext cx="2952750" cy="3771900"/>
          </a:xfrm>
          <a:prstGeom prst="rect">
            <a:avLst/>
          </a:prstGeom>
          <a:solidFill>
            <a:srgbClr val="132B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086464D-846D-4EBE-8D70-7CAEC3CF81AC}"/>
              </a:ext>
            </a:extLst>
          </p:cNvPr>
          <p:cNvSpPr>
            <a:spLocks noGrp="1"/>
          </p:cNvSpPr>
          <p:nvPr/>
        </p:nvSpPr>
        <p:spPr>
          <a:xfrm>
            <a:off x="8210550" y="1371600"/>
            <a:ext cx="228600" cy="2286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8F518AD-4FA0-42DB-8604-0E99B25CC004}"/>
              </a:ext>
            </a:extLst>
          </p:cNvPr>
          <p:cNvSpPr>
            <a:spLocks noGrp="1"/>
          </p:cNvSpPr>
          <p:nvPr/>
        </p:nvSpPr>
        <p:spPr>
          <a:xfrm>
            <a:off x="8591550" y="13811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0602F5D2-A298-4786-8178-F3AEC66113C1}"/>
              </a:ext>
            </a:extLst>
          </p:cNvPr>
          <p:cNvSpPr>
            <a:spLocks noGrp="1"/>
          </p:cNvSpPr>
          <p:nvPr/>
        </p:nvSpPr>
        <p:spPr>
          <a:xfrm>
            <a:off x="8315325" y="1638300"/>
            <a:ext cx="19050" cy="1905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99B6346-7EBA-4AB8-A1F0-FD3058B35467}"/>
              </a:ext>
            </a:extLst>
          </p:cNvPr>
          <p:cNvSpPr>
            <a:spLocks noGrp="1"/>
          </p:cNvSpPr>
          <p:nvPr/>
        </p:nvSpPr>
        <p:spPr>
          <a:xfrm>
            <a:off x="8210550" y="1828800"/>
            <a:ext cx="228600" cy="2286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99B6B21-F387-486A-818A-2843695CCF03}"/>
              </a:ext>
            </a:extLst>
          </p:cNvPr>
          <p:cNvSpPr>
            <a:spLocks noGrp="1"/>
          </p:cNvSpPr>
          <p:nvPr/>
        </p:nvSpPr>
        <p:spPr>
          <a:xfrm>
            <a:off x="8591550" y="18383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Cotizacion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A99FD24-3E47-4184-AB22-E2782B34F47A}"/>
              </a:ext>
            </a:extLst>
          </p:cNvPr>
          <p:cNvSpPr>
            <a:spLocks noGrp="1"/>
          </p:cNvSpPr>
          <p:nvPr/>
        </p:nvSpPr>
        <p:spPr>
          <a:xfrm>
            <a:off x="8315325" y="2095500"/>
            <a:ext cx="19050" cy="1905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C874A6B-412A-407D-B934-FED93B2D0354}"/>
              </a:ext>
            </a:extLst>
          </p:cNvPr>
          <p:cNvSpPr>
            <a:spLocks noGrp="1"/>
          </p:cNvSpPr>
          <p:nvPr/>
        </p:nvSpPr>
        <p:spPr>
          <a:xfrm>
            <a:off x="8210550" y="2286000"/>
            <a:ext cx="228600" cy="2286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F18FD499-BEB2-4B93-A599-B2D0AA1F078A}"/>
              </a:ext>
            </a:extLst>
          </p:cNvPr>
          <p:cNvSpPr>
            <a:spLocks noGrp="1"/>
          </p:cNvSpPr>
          <p:nvPr/>
        </p:nvSpPr>
        <p:spPr>
          <a:xfrm>
            <a:off x="8591550" y="22955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7535373-60AD-4903-B8F0-E167287EFCB6}"/>
              </a:ext>
            </a:extLst>
          </p:cNvPr>
          <p:cNvSpPr>
            <a:spLocks noGrp="1"/>
          </p:cNvSpPr>
          <p:nvPr/>
        </p:nvSpPr>
        <p:spPr>
          <a:xfrm>
            <a:off x="8315325" y="2552700"/>
            <a:ext cx="19050" cy="1905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892E9B9C-964E-4B65-9404-BF2235C3FB3C}"/>
              </a:ext>
            </a:extLst>
          </p:cNvPr>
          <p:cNvSpPr>
            <a:spLocks noGrp="1"/>
          </p:cNvSpPr>
          <p:nvPr/>
        </p:nvSpPr>
        <p:spPr>
          <a:xfrm>
            <a:off x="8210550" y="2743200"/>
            <a:ext cx="228600" cy="2286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404155E-1F28-4DD9-9405-4A6291272E73}"/>
              </a:ext>
            </a:extLst>
          </p:cNvPr>
          <p:cNvSpPr>
            <a:spLocks noGrp="1"/>
          </p:cNvSpPr>
          <p:nvPr/>
        </p:nvSpPr>
        <p:spPr>
          <a:xfrm>
            <a:off x="8591550" y="27527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26EAD4B-8057-407C-B47C-EB36EEC06DFA}"/>
              </a:ext>
            </a:extLst>
          </p:cNvPr>
          <p:cNvSpPr>
            <a:spLocks noGrp="1"/>
          </p:cNvSpPr>
          <p:nvPr/>
        </p:nvSpPr>
        <p:spPr>
          <a:xfrm>
            <a:off x="8315325" y="3009900"/>
            <a:ext cx="19050" cy="1905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83432214-F166-4DA5-A87A-C364D5EB74A9}"/>
              </a:ext>
            </a:extLst>
          </p:cNvPr>
          <p:cNvSpPr>
            <a:spLocks noGrp="1"/>
          </p:cNvSpPr>
          <p:nvPr/>
        </p:nvSpPr>
        <p:spPr>
          <a:xfrm>
            <a:off x="8210550" y="3200400"/>
            <a:ext cx="228600" cy="2286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5774ED6-6D36-4073-8796-443354EA5F02}"/>
              </a:ext>
            </a:extLst>
          </p:cNvPr>
          <p:cNvSpPr>
            <a:spLocks noGrp="1"/>
          </p:cNvSpPr>
          <p:nvPr/>
        </p:nvSpPr>
        <p:spPr>
          <a:xfrm>
            <a:off x="8591550" y="32099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lang="es-ES" sz="1275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Planilla de costos</a:t>
            </a:r>
            <a:endParaRPr sz="1275" b="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1CD6237D-5AFF-46BB-A2AD-86F341CB51AE}"/>
              </a:ext>
            </a:extLst>
          </p:cNvPr>
          <p:cNvSpPr>
            <a:spLocks noGrp="1"/>
          </p:cNvSpPr>
          <p:nvPr/>
        </p:nvSpPr>
        <p:spPr>
          <a:xfrm>
            <a:off x="8315325" y="3467100"/>
            <a:ext cx="19050" cy="1905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B7B5F15-0B2C-4AC4-8731-1B42E04A1256}"/>
              </a:ext>
            </a:extLst>
          </p:cNvPr>
          <p:cNvSpPr>
            <a:spLocks noGrp="1"/>
          </p:cNvSpPr>
          <p:nvPr/>
        </p:nvSpPr>
        <p:spPr>
          <a:xfrm>
            <a:off x="8210550" y="3657600"/>
            <a:ext cx="228600" cy="2286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9600D1B0-36E3-4B69-B721-5C7CACCFC9EC}"/>
              </a:ext>
            </a:extLst>
          </p:cNvPr>
          <p:cNvSpPr>
            <a:spLocks noGrp="1"/>
          </p:cNvSpPr>
          <p:nvPr/>
        </p:nvSpPr>
        <p:spPr>
          <a:xfrm>
            <a:off x="8591550" y="36671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Factura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ACE25A5-9520-43B4-848A-DE53B9E8B801}"/>
              </a:ext>
            </a:extLst>
          </p:cNvPr>
          <p:cNvSpPr>
            <a:spLocks noGrp="1"/>
          </p:cNvSpPr>
          <p:nvPr/>
        </p:nvSpPr>
        <p:spPr>
          <a:xfrm>
            <a:off x="8315325" y="3924300"/>
            <a:ext cx="19050" cy="190500"/>
          </a:xfrm>
          <a:prstGeom prst="rect">
            <a:avLst/>
          </a:prstGeom>
          <a:solidFill>
            <a:srgbClr val="55708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A5AB5CD-942C-412B-82D5-CDEE9487DB44}"/>
              </a:ext>
            </a:extLst>
          </p:cNvPr>
          <p:cNvSpPr>
            <a:spLocks noGrp="1"/>
          </p:cNvSpPr>
          <p:nvPr/>
        </p:nvSpPr>
        <p:spPr>
          <a:xfrm>
            <a:off x="8210550" y="4114800"/>
            <a:ext cx="228600" cy="2286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3EDE31B-628E-4B77-95B8-1DB37BE2E116}"/>
              </a:ext>
            </a:extLst>
          </p:cNvPr>
          <p:cNvSpPr>
            <a:spLocks noGrp="1"/>
          </p:cNvSpPr>
          <p:nvPr/>
        </p:nvSpPr>
        <p:spPr>
          <a:xfrm>
            <a:off x="8591550" y="4124325"/>
            <a:ext cx="171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Cobro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BB440327-A6B6-4629-BAC0-FF747B64E44C}"/>
              </a:ext>
            </a:extLst>
          </p:cNvPr>
          <p:cNvSpPr>
            <a:spLocks noGrp="1"/>
          </p:cNvSpPr>
          <p:nvPr/>
        </p:nvSpPr>
        <p:spPr>
          <a:xfrm>
            <a:off x="666750" y="434340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1 expediente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F4F75B7A-D3C3-41B6-B4A1-BF294B17A3D4}"/>
              </a:ext>
            </a:extLst>
          </p:cNvPr>
          <p:cNvSpPr>
            <a:spLocks noGrp="1"/>
          </p:cNvSpPr>
          <p:nvPr/>
        </p:nvSpPr>
        <p:spPr>
          <a:xfrm>
            <a:off x="666750" y="474345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por operacion de carga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271F471-AA30-4924-8246-C2B7BB2B5F60}"/>
              </a:ext>
            </a:extLst>
          </p:cNvPr>
          <p:cNvSpPr>
            <a:spLocks noGrp="1"/>
          </p:cNvSpPr>
          <p:nvPr/>
        </p:nvSpPr>
        <p:spPr>
          <a:xfrm>
            <a:off x="3143250" y="4343400"/>
            <a:ext cx="2667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A7D6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A7D6A"/>
                </a:solidFill>
                <a:latin typeface="Aptos"/>
                <a:ea typeface="Aptos"/>
                <a:cs typeface="Aptos"/>
              </a:rPr>
              <a:t>4 vias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42F43C7F-0CBB-4934-A7E6-4FD8F1E95F21}"/>
              </a:ext>
            </a:extLst>
          </p:cNvPr>
          <p:cNvSpPr>
            <a:spLocks noGrp="1"/>
          </p:cNvSpPr>
          <p:nvPr/>
        </p:nvSpPr>
        <p:spPr>
          <a:xfrm>
            <a:off x="3143250" y="4743450"/>
            <a:ext cx="2667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aereo, maritimo, terrestre y multimodal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7F7F495-91D7-4FDD-8579-8BCCC82BC7AD}"/>
              </a:ext>
            </a:extLst>
          </p:cNvPr>
          <p:cNvSpPr>
            <a:spLocks noGrp="1"/>
          </p:cNvSpPr>
          <p:nvPr/>
        </p:nvSpPr>
        <p:spPr>
          <a:xfrm>
            <a:off x="6191250" y="4343400"/>
            <a:ext cx="2286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8AB9C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8AB9CC"/>
                </a:solidFill>
                <a:latin typeface="Aptos"/>
                <a:ea typeface="Aptos"/>
                <a:cs typeface="Aptos"/>
              </a:rPr>
              <a:t>1 margen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EC3A586-B371-4D14-9CD8-DD4255099558}"/>
              </a:ext>
            </a:extLst>
          </p:cNvPr>
          <p:cNvSpPr>
            <a:spLocks noGrp="1"/>
          </p:cNvSpPr>
          <p:nvPr/>
        </p:nvSpPr>
        <p:spPr>
          <a:xfrm>
            <a:off x="6191250" y="4743450"/>
            <a:ext cx="22860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visible antes del cierre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F4E660E7-44CA-419D-97B9-0160DE25F730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Enfoque exclusivo ATM CARGO: CRM, cotizacion, operacion logistica, documentos, costos, facturacion y control financiero.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C3631127-5293-4369-B5D1-6540D685AB2E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2C3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F3678FAC-A53E-4869-8631-7C5EFE28FB62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E7E464C-B4AE-470D-BF70-097AA5B89BDF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E9F1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F1F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9563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0CBEC295-AEFE-44BE-9E9C-191F64710B4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3D2CF12-B689-4862-82EF-15FE5F60C6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1E5190A-11D1-435D-9C6A-EBFC21EE9B3E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4F029F0-1810-454F-9E7F-0E285AA6F740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E4D121EE-61DF-436D-A31D-82517DEF47DF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DOLOR PRINCIPAL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5BAFC6-6368-4D9B-AABD-8C51E0174A04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95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ATM CARGO ataca el desorden operativo que mas cuesta margen.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95D920-A746-4A0D-BFE5-3517E11E812A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Una agencia de carga no pierde solo por tarifa: pierde cuando ventas, trafico, documentos y administracion no trabajan sobre la misma informacion.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66893A9-84E8-4FAF-8948-05CCD85F4A9B}"/>
              </a:ext>
            </a:extLst>
          </p:cNvPr>
          <p:cNvSpPr>
            <a:spLocks noGrp="1"/>
          </p:cNvSpPr>
          <p:nvPr/>
        </p:nvSpPr>
        <p:spPr>
          <a:xfrm>
            <a:off x="781050" y="2857500"/>
            <a:ext cx="2266950" cy="1809750"/>
          </a:xfrm>
          <a:prstGeom prst="rect">
            <a:avLst/>
          </a:prstGeom>
          <a:solidFill>
            <a:srgbClr val="EEF3F4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0C98426-D31E-4B04-8B13-CCCDA0348371}"/>
              </a:ext>
            </a:extLst>
          </p:cNvPr>
          <p:cNvSpPr>
            <a:spLocks noGrp="1"/>
          </p:cNvSpPr>
          <p:nvPr/>
        </p:nvSpPr>
        <p:spPr>
          <a:xfrm>
            <a:off x="990600" y="3105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Ventas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B502F68-18BD-418C-9527-CF64D7F7697C}"/>
              </a:ext>
            </a:extLst>
          </p:cNvPr>
          <p:cNvSpPr>
            <a:spLocks noGrp="1"/>
          </p:cNvSpPr>
          <p:nvPr/>
        </p:nvSpPr>
        <p:spPr>
          <a:xfrm>
            <a:off x="990600" y="3486150"/>
            <a:ext cx="6667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4A4C82-7813-49C9-A01E-E7229D9AF677}"/>
              </a:ext>
            </a:extLst>
          </p:cNvPr>
          <p:cNvSpPr>
            <a:spLocks noGrp="1"/>
          </p:cNvSpPr>
          <p:nvPr/>
        </p:nvSpPr>
        <p:spPr>
          <a:xfrm>
            <a:off x="990600" y="3752850"/>
            <a:ext cx="17621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Seguimiento disperso y cotizaciones dificiles de reutilizar.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1BA4B23-22D0-4E98-951E-9421167CDF33}"/>
              </a:ext>
            </a:extLst>
          </p:cNvPr>
          <p:cNvSpPr>
            <a:spLocks noGrp="1"/>
          </p:cNvSpPr>
          <p:nvPr/>
        </p:nvSpPr>
        <p:spPr>
          <a:xfrm>
            <a:off x="3495675" y="2857500"/>
            <a:ext cx="2266950" cy="18097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5061CEF-99DC-4487-9F68-13177BF67391}"/>
              </a:ext>
            </a:extLst>
          </p:cNvPr>
          <p:cNvSpPr>
            <a:spLocks noGrp="1"/>
          </p:cNvSpPr>
          <p:nvPr/>
        </p:nvSpPr>
        <p:spPr>
          <a:xfrm>
            <a:off x="3705225" y="3105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Trafico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33BEDDC-1A11-434C-9961-D12DEC420708}"/>
              </a:ext>
            </a:extLst>
          </p:cNvPr>
          <p:cNvSpPr>
            <a:spLocks noGrp="1"/>
          </p:cNvSpPr>
          <p:nvPr/>
        </p:nvSpPr>
        <p:spPr>
          <a:xfrm>
            <a:off x="3705225" y="3486150"/>
            <a:ext cx="666750" cy="28575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789102F4-DE55-4D73-87F8-24299C12EDD0}"/>
              </a:ext>
            </a:extLst>
          </p:cNvPr>
          <p:cNvSpPr>
            <a:spLocks noGrp="1"/>
          </p:cNvSpPr>
          <p:nvPr/>
        </p:nvSpPr>
        <p:spPr>
          <a:xfrm>
            <a:off x="3705225" y="3752850"/>
            <a:ext cx="17621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Fechas, carriers, documentos y estados actualizados en varios lugares.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9055BB2-50E0-47E4-AAB9-A705EC70BEC7}"/>
              </a:ext>
            </a:extLst>
          </p:cNvPr>
          <p:cNvSpPr>
            <a:spLocks noGrp="1"/>
          </p:cNvSpPr>
          <p:nvPr/>
        </p:nvSpPr>
        <p:spPr>
          <a:xfrm>
            <a:off x="6210300" y="2857500"/>
            <a:ext cx="2266950" cy="1809750"/>
          </a:xfrm>
          <a:prstGeom prst="rect">
            <a:avLst/>
          </a:prstGeom>
          <a:solidFill>
            <a:srgbClr val="EEF3F4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BDDA5C5-2858-4EF3-8699-E0FE682E276C}"/>
              </a:ext>
            </a:extLst>
          </p:cNvPr>
          <p:cNvSpPr>
            <a:spLocks noGrp="1"/>
          </p:cNvSpPr>
          <p:nvPr/>
        </p:nvSpPr>
        <p:spPr>
          <a:xfrm>
            <a:off x="6419850" y="3105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Costos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93DB05C9-3D96-41FA-B056-3C12B8B0B732}"/>
              </a:ext>
            </a:extLst>
          </p:cNvPr>
          <p:cNvSpPr>
            <a:spLocks noGrp="1"/>
          </p:cNvSpPr>
          <p:nvPr/>
        </p:nvSpPr>
        <p:spPr>
          <a:xfrm>
            <a:off x="6419850" y="3486150"/>
            <a:ext cx="6667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5319F02-363B-4E41-A6E6-106FA809C4E4}"/>
              </a:ext>
            </a:extLst>
          </p:cNvPr>
          <p:cNvSpPr>
            <a:spLocks noGrp="1"/>
          </p:cNvSpPr>
          <p:nvPr/>
        </p:nvSpPr>
        <p:spPr>
          <a:xfrm>
            <a:off x="6419850" y="3752850"/>
            <a:ext cx="17621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Compra y venta no siempre se comparan a tiempo.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508C95D-6ED6-4B1C-8824-59CF5F8AD024}"/>
              </a:ext>
            </a:extLst>
          </p:cNvPr>
          <p:cNvSpPr>
            <a:spLocks noGrp="1"/>
          </p:cNvSpPr>
          <p:nvPr/>
        </p:nvSpPr>
        <p:spPr>
          <a:xfrm>
            <a:off x="8924925" y="2857500"/>
            <a:ext cx="2266950" cy="18097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B667C33-1725-4B39-99DF-610B862C7B5A}"/>
              </a:ext>
            </a:extLst>
          </p:cNvPr>
          <p:cNvSpPr>
            <a:spLocks noGrp="1"/>
          </p:cNvSpPr>
          <p:nvPr/>
        </p:nvSpPr>
        <p:spPr>
          <a:xfrm>
            <a:off x="9134475" y="3105150"/>
            <a:ext cx="18097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Finanzas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C47F079-1307-491C-80BE-D4406A11C42D}"/>
              </a:ext>
            </a:extLst>
          </p:cNvPr>
          <p:cNvSpPr>
            <a:spLocks noGrp="1"/>
          </p:cNvSpPr>
          <p:nvPr/>
        </p:nvSpPr>
        <p:spPr>
          <a:xfrm>
            <a:off x="9134475" y="3486150"/>
            <a:ext cx="666750" cy="28575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7F7A6DB-A3EF-4675-8E85-8BC755796B3B}"/>
              </a:ext>
            </a:extLst>
          </p:cNvPr>
          <p:cNvSpPr>
            <a:spLocks noGrp="1"/>
          </p:cNvSpPr>
          <p:nvPr/>
        </p:nvSpPr>
        <p:spPr>
          <a:xfrm>
            <a:off x="9134475" y="3752850"/>
            <a:ext cx="1762125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Facturacion, pagos y saldos desconectados del expediente.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72EB7B7B-40F1-4360-BD9F-49560E61481D}"/>
              </a:ext>
            </a:extLst>
          </p:cNvPr>
          <p:cNvSpPr>
            <a:spLocks noGrp="1"/>
          </p:cNvSpPr>
          <p:nvPr/>
        </p:nvSpPr>
        <p:spPr>
          <a:xfrm>
            <a:off x="2000250" y="5219700"/>
            <a:ext cx="7810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75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 resultado buscado: menos retrabajo y mas control por cada embarque.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DD62A5F-006D-4C65-BA32-17FEDB5F9525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A348DCD-10F3-4F4C-B0F3-DE57D442990B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88DA71A4-8B41-4F53-A78B-210ED64D0C5F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2365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ángulo 39">
            <a:extLst>
              <a:ext uri="{FF2B5EF4-FFF2-40B4-BE49-F238E27FC236}">
                <a16:creationId xmlns:a16="http://schemas.microsoft.com/office/drawing/2014/main" id="{D0E4C08F-E02B-4E82-AE92-D522C44719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A1B99BCA-0F16-4ECC-B8F7-FA4D208A113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06D852D-8190-4B06-A645-2A9C3588F79A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19EE9A6-1A6A-4A91-9DCF-63E63B1B09BE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9E6E0B7A-7E67-4D78-8D55-07E55E988731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FLUJO END TO END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828F89A-D489-492A-8913-C24090D95DA9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572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 flujo de ATM CARGO sigue la vida real de una operacion de carga.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869C4ED-936A-4B89-BD4A-F1C6D729E0BC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Cada etapa agrega datos que despues se reutilizan para cotizar, operar, documentar, reportar y facturar.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15945C2-4F1C-41CB-A583-00D9BF939397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1676400" cy="12573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9674331D-D019-42C9-AF5F-CB31E543D129}"/>
              </a:ext>
            </a:extLst>
          </p:cNvPr>
          <p:cNvSpPr>
            <a:spLocks noGrp="1"/>
          </p:cNvSpPr>
          <p:nvPr/>
        </p:nvSpPr>
        <p:spPr>
          <a:xfrm>
            <a:off x="876300" y="3067050"/>
            <a:ext cx="47625" cy="12573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FA037E4-5825-4343-A625-6930E08B1090}"/>
              </a:ext>
            </a:extLst>
          </p:cNvPr>
          <p:cNvSpPr>
            <a:spLocks noGrp="1"/>
          </p:cNvSpPr>
          <p:nvPr/>
        </p:nvSpPr>
        <p:spPr>
          <a:xfrm>
            <a:off x="1047750" y="3209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Prospecto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3F31D8-EA02-412A-9EDA-CC5D78DDF17E}"/>
              </a:ext>
            </a:extLst>
          </p:cNvPr>
          <p:cNvSpPr>
            <a:spLocks noGrp="1"/>
          </p:cNvSpPr>
          <p:nvPr/>
        </p:nvSpPr>
        <p:spPr>
          <a:xfrm>
            <a:off x="1047750" y="3486150"/>
            <a:ext cx="1352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Cliente, contacto, necesidad y responsable comercial.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5D33415-8AE0-4874-876E-DE7024CC209D}"/>
              </a:ext>
            </a:extLst>
          </p:cNvPr>
          <p:cNvSpPr>
            <a:spLocks noGrp="1"/>
          </p:cNvSpPr>
          <p:nvPr/>
        </p:nvSpPr>
        <p:spPr>
          <a:xfrm>
            <a:off x="2609850" y="3695700"/>
            <a:ext cx="133350" cy="19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Triángulo isósceles 12">
            <a:extLst>
              <a:ext uri="{FF2B5EF4-FFF2-40B4-BE49-F238E27FC236}">
                <a16:creationId xmlns:a16="http://schemas.microsoft.com/office/drawing/2014/main" id="{459085FE-26EF-4701-8C8D-3D592E9D934A}"/>
              </a:ext>
            </a:extLst>
          </p:cNvPr>
          <p:cNvSpPr>
            <a:spLocks noGrp="1"/>
          </p:cNvSpPr>
          <p:nvPr/>
        </p:nvSpPr>
        <p:spPr>
          <a:xfrm>
            <a:off x="2724150" y="3648075"/>
            <a:ext cx="114300" cy="114300"/>
          </a:xfrm>
          <a:prstGeom prst="triangle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66E5845-F842-4750-A386-426B92E878E4}"/>
              </a:ext>
            </a:extLst>
          </p:cNvPr>
          <p:cNvSpPr>
            <a:spLocks noGrp="1"/>
          </p:cNvSpPr>
          <p:nvPr/>
        </p:nvSpPr>
        <p:spPr>
          <a:xfrm>
            <a:off x="2952750" y="3067050"/>
            <a:ext cx="1676400" cy="125730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EE79517-6056-4249-8AE9-5F0A76B246AB}"/>
              </a:ext>
            </a:extLst>
          </p:cNvPr>
          <p:cNvSpPr>
            <a:spLocks noGrp="1"/>
          </p:cNvSpPr>
          <p:nvPr/>
        </p:nvSpPr>
        <p:spPr>
          <a:xfrm>
            <a:off x="2952750" y="3067050"/>
            <a:ext cx="47625" cy="12573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8067619A-DB76-4A10-A192-E6375CD627E8}"/>
              </a:ext>
            </a:extLst>
          </p:cNvPr>
          <p:cNvSpPr>
            <a:spLocks noGrp="1"/>
          </p:cNvSpPr>
          <p:nvPr/>
        </p:nvSpPr>
        <p:spPr>
          <a:xfrm>
            <a:off x="3124200" y="3209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Cotizacion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F96DB1-0E4C-40B8-9D6D-1C6D17188CFA}"/>
              </a:ext>
            </a:extLst>
          </p:cNvPr>
          <p:cNvSpPr>
            <a:spLocks noGrp="1"/>
          </p:cNvSpPr>
          <p:nvPr/>
        </p:nvSpPr>
        <p:spPr>
          <a:xfrm>
            <a:off x="3124200" y="3486150"/>
            <a:ext cx="1352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Condiciones, ruta, pesos, volumenes, items y PDF formal.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C344F33F-BC61-46E2-A0B7-AD78BB8778CB}"/>
              </a:ext>
            </a:extLst>
          </p:cNvPr>
          <p:cNvSpPr>
            <a:spLocks noGrp="1"/>
          </p:cNvSpPr>
          <p:nvPr/>
        </p:nvSpPr>
        <p:spPr>
          <a:xfrm>
            <a:off x="4686300" y="3695700"/>
            <a:ext cx="133350" cy="190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Triángulo isósceles 18">
            <a:extLst>
              <a:ext uri="{FF2B5EF4-FFF2-40B4-BE49-F238E27FC236}">
                <a16:creationId xmlns:a16="http://schemas.microsoft.com/office/drawing/2014/main" id="{004A61FC-6415-4A84-88F6-CB70BB10D042}"/>
              </a:ext>
            </a:extLst>
          </p:cNvPr>
          <p:cNvSpPr>
            <a:spLocks noGrp="1"/>
          </p:cNvSpPr>
          <p:nvPr/>
        </p:nvSpPr>
        <p:spPr>
          <a:xfrm>
            <a:off x="4800600" y="3648075"/>
            <a:ext cx="114300" cy="114300"/>
          </a:xfrm>
          <a:prstGeom prst="triangle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DC80A04-CD42-4E8C-988C-39225B545349}"/>
              </a:ext>
            </a:extLst>
          </p:cNvPr>
          <p:cNvSpPr>
            <a:spLocks noGrp="1"/>
          </p:cNvSpPr>
          <p:nvPr/>
        </p:nvSpPr>
        <p:spPr>
          <a:xfrm>
            <a:off x="5029200" y="3067050"/>
            <a:ext cx="1676400" cy="12573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E4C4D09-98A1-43F7-8F95-A1215627E51E}"/>
              </a:ext>
            </a:extLst>
          </p:cNvPr>
          <p:cNvSpPr>
            <a:spLocks noGrp="1"/>
          </p:cNvSpPr>
          <p:nvPr/>
        </p:nvSpPr>
        <p:spPr>
          <a:xfrm>
            <a:off x="5029200" y="3067050"/>
            <a:ext cx="47625" cy="12573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7644CDA9-212F-4215-8025-0E786A1565B0}"/>
              </a:ext>
            </a:extLst>
          </p:cNvPr>
          <p:cNvSpPr>
            <a:spLocks noGrp="1"/>
          </p:cNvSpPr>
          <p:nvPr/>
        </p:nvSpPr>
        <p:spPr>
          <a:xfrm>
            <a:off x="5200650" y="3209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Operacion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0E9D717-D8F9-4D92-AECC-FFE0ADFE7650}"/>
              </a:ext>
            </a:extLst>
          </p:cNvPr>
          <p:cNvSpPr>
            <a:spLocks noGrp="1"/>
          </p:cNvSpPr>
          <p:nvPr/>
        </p:nvSpPr>
        <p:spPr>
          <a:xfrm>
            <a:off x="5200650" y="3486150"/>
            <a:ext cx="1352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Aereo, ocean, road o multimodal con datos logisticos.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5CC3FE81-F2B8-4605-918D-DAA20163EF93}"/>
              </a:ext>
            </a:extLst>
          </p:cNvPr>
          <p:cNvSpPr>
            <a:spLocks noGrp="1"/>
          </p:cNvSpPr>
          <p:nvPr/>
        </p:nvSpPr>
        <p:spPr>
          <a:xfrm>
            <a:off x="6762750" y="3695700"/>
            <a:ext cx="133350" cy="19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693E253C-BDAB-45EA-8F56-E30BED32FCC7}"/>
              </a:ext>
            </a:extLst>
          </p:cNvPr>
          <p:cNvSpPr>
            <a:spLocks noGrp="1"/>
          </p:cNvSpPr>
          <p:nvPr/>
        </p:nvSpPr>
        <p:spPr>
          <a:xfrm>
            <a:off x="6877050" y="3648075"/>
            <a:ext cx="114300" cy="114300"/>
          </a:xfrm>
          <a:prstGeom prst="triangle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6ED109A-A9F4-404F-BD3D-326EC15F52A4}"/>
              </a:ext>
            </a:extLst>
          </p:cNvPr>
          <p:cNvSpPr>
            <a:spLocks noGrp="1"/>
          </p:cNvSpPr>
          <p:nvPr/>
        </p:nvSpPr>
        <p:spPr>
          <a:xfrm>
            <a:off x="7105650" y="3067050"/>
            <a:ext cx="1676400" cy="125730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260EFEB-7B12-4F33-95A7-8A1E8A40D4FE}"/>
              </a:ext>
            </a:extLst>
          </p:cNvPr>
          <p:cNvSpPr>
            <a:spLocks noGrp="1"/>
          </p:cNvSpPr>
          <p:nvPr/>
        </p:nvSpPr>
        <p:spPr>
          <a:xfrm>
            <a:off x="7105650" y="3067050"/>
            <a:ext cx="47625" cy="12573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EAD4FA5-51F7-43F9-B619-FB4B449FDDE2}"/>
              </a:ext>
            </a:extLst>
          </p:cNvPr>
          <p:cNvSpPr>
            <a:spLocks noGrp="1"/>
          </p:cNvSpPr>
          <p:nvPr/>
        </p:nvSpPr>
        <p:spPr>
          <a:xfrm>
            <a:off x="7277100" y="3209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Documentos</a:t>
            </a: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22E484B0-F2FC-4DA4-9993-A4680B65E9E8}"/>
              </a:ext>
            </a:extLst>
          </p:cNvPr>
          <p:cNvSpPr>
            <a:spLocks noGrp="1"/>
          </p:cNvSpPr>
          <p:nvPr/>
        </p:nvSpPr>
        <p:spPr>
          <a:xfrm>
            <a:off x="7277100" y="3486150"/>
            <a:ext cx="1352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House, master, factura, packing list, certificados y adjuntos.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643627-147B-42E0-A2C1-2CA869454E58}"/>
              </a:ext>
            </a:extLst>
          </p:cNvPr>
          <p:cNvSpPr>
            <a:spLocks noGrp="1"/>
          </p:cNvSpPr>
          <p:nvPr/>
        </p:nvSpPr>
        <p:spPr>
          <a:xfrm>
            <a:off x="8839200" y="3695700"/>
            <a:ext cx="133350" cy="190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riángulo isósceles 30">
            <a:extLst>
              <a:ext uri="{FF2B5EF4-FFF2-40B4-BE49-F238E27FC236}">
                <a16:creationId xmlns:a16="http://schemas.microsoft.com/office/drawing/2014/main" id="{B21F1CB6-C67C-493B-B392-5E6D53C88CD3}"/>
              </a:ext>
            </a:extLst>
          </p:cNvPr>
          <p:cNvSpPr>
            <a:spLocks noGrp="1"/>
          </p:cNvSpPr>
          <p:nvPr/>
        </p:nvSpPr>
        <p:spPr>
          <a:xfrm>
            <a:off x="8953500" y="3648075"/>
            <a:ext cx="114300" cy="114300"/>
          </a:xfrm>
          <a:prstGeom prst="triangle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BE1478D4-7DF0-4350-9230-F5D7DB1CF97F}"/>
              </a:ext>
            </a:extLst>
          </p:cNvPr>
          <p:cNvSpPr>
            <a:spLocks noGrp="1"/>
          </p:cNvSpPr>
          <p:nvPr/>
        </p:nvSpPr>
        <p:spPr>
          <a:xfrm>
            <a:off x="9182100" y="3067050"/>
            <a:ext cx="1676400" cy="125730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DE844AFB-DAA8-403E-BDFC-09123D700F7C}"/>
              </a:ext>
            </a:extLst>
          </p:cNvPr>
          <p:cNvSpPr>
            <a:spLocks noGrp="1"/>
          </p:cNvSpPr>
          <p:nvPr/>
        </p:nvSpPr>
        <p:spPr>
          <a:xfrm>
            <a:off x="9182100" y="3067050"/>
            <a:ext cx="47625" cy="12573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84F5F6DA-8542-44C0-A873-8B064F148741}"/>
              </a:ext>
            </a:extLst>
          </p:cNvPr>
          <p:cNvSpPr>
            <a:spLocks noGrp="1"/>
          </p:cNvSpPr>
          <p:nvPr/>
        </p:nvSpPr>
        <p:spPr>
          <a:xfrm>
            <a:off x="9353550" y="3209925"/>
            <a:ext cx="135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D17FC535-DFE1-4C8F-943E-15216F4DE0F7}"/>
              </a:ext>
            </a:extLst>
          </p:cNvPr>
          <p:cNvSpPr>
            <a:spLocks noGrp="1"/>
          </p:cNvSpPr>
          <p:nvPr/>
        </p:nvSpPr>
        <p:spPr>
          <a:xfrm>
            <a:off x="9353550" y="3486150"/>
            <a:ext cx="1352550" cy="723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Costos, gastos, factura, recibos, saldo y profit.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3D8706B-E19C-487D-9B25-981145A9EB8A}"/>
              </a:ext>
            </a:extLst>
          </p:cNvPr>
          <p:cNvSpPr>
            <a:spLocks noGrp="1"/>
          </p:cNvSpPr>
          <p:nvPr/>
        </p:nvSpPr>
        <p:spPr>
          <a:xfrm>
            <a:off x="2000250" y="5086350"/>
            <a:ext cx="7810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Un solo expediente reduce la dependencia de planillas paralelas.</a:t>
            </a: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E608872E-EE12-454A-A4AB-36FFF0583C67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B41494EF-CAFE-4366-B20E-3FC5C2781E9F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E31809F-E236-4F75-BC66-55E1A052DC5B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37372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ángulo 25">
            <a:extLst>
              <a:ext uri="{FF2B5EF4-FFF2-40B4-BE49-F238E27FC236}">
                <a16:creationId xmlns:a16="http://schemas.microsoft.com/office/drawing/2014/main" id="{F4CBE0E5-3187-4EEC-ABE6-F1CF8C06F0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42C5D96-1C3F-404B-89DE-68345599E16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CA5B461-781A-4140-896F-39CEF63ED81C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1655DB6-B9FC-41A0-9A6B-72A199DAD867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FC1FF1C-2012-4C0C-B187-7AB04FA25FBA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COTIZACION COMERCIAL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2862D9-10EF-4D9E-88AE-AA5C6406FF5D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90487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La cotizacion deja de ser un archivo aislado y pasa a ser parte del expediente.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0C94B42-9A8B-40F2-B880-056B34FDACC1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permite cargar datos logisticos y comerciales, tomar informacion de la operacion y emitir una cotizacion formal.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8B15D46-8CFE-4D47-8518-915C28A6DA4A}"/>
              </a:ext>
            </a:extLst>
          </p:cNvPr>
          <p:cNvSpPr>
            <a:spLocks noGrp="1"/>
          </p:cNvSpPr>
          <p:nvPr/>
        </p:nvSpPr>
        <p:spPr>
          <a:xfrm>
            <a:off x="914400" y="2800350"/>
            <a:ext cx="4267200" cy="20764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2E9FBF8-1B9C-43E6-9320-A0AD568243FC}"/>
              </a:ext>
            </a:extLst>
          </p:cNvPr>
          <p:cNvSpPr>
            <a:spLocks noGrp="1"/>
          </p:cNvSpPr>
          <p:nvPr/>
        </p:nvSpPr>
        <p:spPr>
          <a:xfrm>
            <a:off x="1162050" y="3067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Datos de la oferta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903B5A-9DA3-48A8-9B31-A018F829DA25}"/>
              </a:ext>
            </a:extLst>
          </p:cNvPr>
          <p:cNvSpPr>
            <a:spLocks noGrp="1"/>
          </p:cNvSpPr>
          <p:nvPr/>
        </p:nvSpPr>
        <p:spPr>
          <a:xfrm>
            <a:off x="1200150" y="35242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Cliente y contacto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77B590D-3E6D-4A29-834D-AC17ACE80EB7}"/>
              </a:ext>
            </a:extLst>
          </p:cNvPr>
          <p:cNvSpPr>
            <a:spLocks noGrp="1"/>
          </p:cNvSpPr>
          <p:nvPr/>
        </p:nvSpPr>
        <p:spPr>
          <a:xfrm>
            <a:off x="1200150" y="37909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Origen, destino e incoterm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6D8662D-45BC-4568-870F-B8224EFDBB2A}"/>
              </a:ext>
            </a:extLst>
          </p:cNvPr>
          <p:cNvSpPr>
            <a:spLocks noGrp="1"/>
          </p:cNvSpPr>
          <p:nvPr/>
        </p:nvSpPr>
        <p:spPr>
          <a:xfrm>
            <a:off x="1200150" y="40576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Tipo de transporte y envio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4EE2DE6-0820-4791-B920-4EAC5DED17CF}"/>
              </a:ext>
            </a:extLst>
          </p:cNvPr>
          <p:cNvSpPr>
            <a:spLocks noGrp="1"/>
          </p:cNvSpPr>
          <p:nvPr/>
        </p:nvSpPr>
        <p:spPr>
          <a:xfrm>
            <a:off x="1200150" y="43243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Peso, volumen y mercaderia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1DA0A48-03EC-4D2B-944D-FD98A8A5EF69}"/>
              </a:ext>
            </a:extLst>
          </p:cNvPr>
          <p:cNvSpPr>
            <a:spLocks noGrp="1"/>
          </p:cNvSpPr>
          <p:nvPr/>
        </p:nvSpPr>
        <p:spPr>
          <a:xfrm>
            <a:off x="1200150" y="45910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Que incluye / que no incluye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BE2D7CF0-EFB7-4644-B9F7-AE2BD93FCFD9}"/>
              </a:ext>
            </a:extLst>
          </p:cNvPr>
          <p:cNvSpPr>
            <a:spLocks noGrp="1"/>
          </p:cNvSpPr>
          <p:nvPr/>
        </p:nvSpPr>
        <p:spPr>
          <a:xfrm>
            <a:off x="6096000" y="2800350"/>
            <a:ext cx="4267200" cy="207645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AA5088F-06F1-41DD-8041-5A5E6A753AD4}"/>
              </a:ext>
            </a:extLst>
          </p:cNvPr>
          <p:cNvSpPr>
            <a:spLocks noGrp="1"/>
          </p:cNvSpPr>
          <p:nvPr/>
        </p:nvSpPr>
        <p:spPr>
          <a:xfrm>
            <a:off x="6343650" y="3067050"/>
            <a:ext cx="2476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800" b="1">
                <a:solidFill>
                  <a:srgbClr val="3A7D6A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A7D6A"/>
                </a:solidFill>
                <a:latin typeface="Aptos"/>
                <a:ea typeface="Aptos"/>
                <a:cs typeface="Aptos"/>
              </a:rPr>
              <a:t>Salida comercial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A83C699-DB41-46D8-9882-D6221FFA6BC3}"/>
              </a:ext>
            </a:extLst>
          </p:cNvPr>
          <p:cNvSpPr>
            <a:spLocks noGrp="1"/>
          </p:cNvSpPr>
          <p:nvPr/>
        </p:nvSpPr>
        <p:spPr>
          <a:xfrm>
            <a:off x="6381750" y="35242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PDF formal de cotizacion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881FA6D2-84DD-4B07-85B4-3E7561D0CD8B}"/>
              </a:ext>
            </a:extLst>
          </p:cNvPr>
          <p:cNvSpPr>
            <a:spLocks noGrp="1"/>
          </p:cNvSpPr>
          <p:nvPr/>
        </p:nvSpPr>
        <p:spPr>
          <a:xfrm>
            <a:off x="6381750" y="37909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Items de servicio y moneda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825CC1D1-843C-4F92-B925-EE09829C7BF5}"/>
              </a:ext>
            </a:extLst>
          </p:cNvPr>
          <p:cNvSpPr>
            <a:spLocks noGrp="1"/>
          </p:cNvSpPr>
          <p:nvPr/>
        </p:nvSpPr>
        <p:spPr>
          <a:xfrm>
            <a:off x="6381750" y="40576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Condiciones de venta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DCAB50B8-A13D-478F-9154-E4321B4A56BF}"/>
              </a:ext>
            </a:extLst>
          </p:cNvPr>
          <p:cNvSpPr>
            <a:spLocks noGrp="1"/>
          </p:cNvSpPr>
          <p:nvPr/>
        </p:nvSpPr>
        <p:spPr>
          <a:xfrm>
            <a:off x="6381750" y="43243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Validez, forma de pago y credito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E880C010-BD67-4257-8D31-10A9B09DCB76}"/>
              </a:ext>
            </a:extLst>
          </p:cNvPr>
          <p:cNvSpPr>
            <a:spLocks noGrp="1"/>
          </p:cNvSpPr>
          <p:nvPr/>
        </p:nvSpPr>
        <p:spPr>
          <a:xfrm>
            <a:off x="6381750" y="4591050"/>
            <a:ext cx="3238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- Revisiones y versionado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37AAB3C9-F5E2-427C-AD54-036BCAFC4A16}"/>
              </a:ext>
            </a:extLst>
          </p:cNvPr>
          <p:cNvSpPr>
            <a:spLocks noGrp="1"/>
          </p:cNvSpPr>
          <p:nvPr/>
        </p:nvSpPr>
        <p:spPr>
          <a:xfrm>
            <a:off x="1809750" y="5429250"/>
            <a:ext cx="80962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Beneficio: cotizar mas rapido, con formato consistente y menos copia manual.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497FCEEF-3BB0-4AFC-A44C-0F7388210CBF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423E4DAF-0704-47AE-B64F-C0EBD0DF0CAE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8610AE2-A127-4423-9FEC-5C0517E9A360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3759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034DADDD-84A5-4C39-B1C1-7BB861140EA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F7197C96-AAD6-4F23-A5BC-94931F1B7F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4F8BBA8-FFB2-402A-BB45-8C02362DA2EE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352049A-AACA-4F10-8E5E-486961F887B2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DEED4C0-7A36-478C-8E53-19DEF85B39FF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OPERACION LOGISTICA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A150DC2-CE71-440D-A263-7A0597E8242C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85825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La operacion cubre las modalidades que una agencia regional usa todos los dias.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73E396-1537-4284-AC6A-9A7B7A8BFC9A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detalle operativo se adapta segun el tipo de carga sin perder la misma referencia comercial y financiera.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5ECBB999-E3EA-47FA-982B-61701962FD1D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4648200" cy="104775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60B6F73E-9E67-4612-B451-835AEF04FCE5}"/>
              </a:ext>
            </a:extLst>
          </p:cNvPr>
          <p:cNvSpPr>
            <a:spLocks noGrp="1"/>
          </p:cNvSpPr>
          <p:nvPr/>
        </p:nvSpPr>
        <p:spPr>
          <a:xfrm>
            <a:off x="914400" y="2743200"/>
            <a:ext cx="47625" cy="10477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4259F14-DCC7-422A-B2B2-EDA87565D724}"/>
              </a:ext>
            </a:extLst>
          </p:cNvPr>
          <p:cNvSpPr>
            <a:spLocks noGrp="1"/>
          </p:cNvSpPr>
          <p:nvPr/>
        </p:nvSpPr>
        <p:spPr>
          <a:xfrm>
            <a:off x="1085850" y="2886075"/>
            <a:ext cx="432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Aereo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482F7D09-6080-4E31-A522-8431BEF68965}"/>
              </a:ext>
            </a:extLst>
          </p:cNvPr>
          <p:cNvSpPr>
            <a:spLocks noGrp="1"/>
          </p:cNvSpPr>
          <p:nvPr/>
        </p:nvSpPr>
        <p:spPr>
          <a:xfrm>
            <a:off x="1085850" y="3162300"/>
            <a:ext cx="432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 dirty="0" err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Aeropuertos</a:t>
            </a:r>
            <a:r>
              <a:rPr sz="1013" b="0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, </a:t>
            </a:r>
            <a:r>
              <a:rPr sz="1013" b="0" dirty="0" err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aerolinea</a:t>
            </a:r>
            <a:r>
              <a:rPr sz="1013" b="0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, peso </a:t>
            </a:r>
            <a:r>
              <a:rPr sz="1013" b="0" dirty="0" err="1">
                <a:solidFill>
                  <a:srgbClr val="66727C"/>
                </a:solidFill>
                <a:latin typeface="Aptos"/>
                <a:ea typeface="Aptos"/>
                <a:cs typeface="Aptos"/>
              </a:rPr>
              <a:t>bruto</a:t>
            </a:r>
            <a:r>
              <a:rPr sz="1013" b="0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, </a:t>
            </a:r>
            <a:r>
              <a:rPr sz="1013" b="0" dirty="0" err="1">
                <a:solidFill>
                  <a:srgbClr val="66727C"/>
                </a:solidFill>
                <a:latin typeface="Aptos"/>
                <a:ea typeface="Aptos"/>
                <a:cs typeface="Aptos"/>
              </a:rPr>
              <a:t>volumen</a:t>
            </a:r>
            <a:r>
              <a:rPr sz="1013" b="0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, </a:t>
            </a:r>
            <a:r>
              <a:rPr lang="es-ES" sz="1013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kilo </a:t>
            </a:r>
            <a:r>
              <a:rPr lang="es-ES" sz="1013" dirty="0" err="1">
                <a:solidFill>
                  <a:srgbClr val="66727C"/>
                </a:solidFill>
                <a:latin typeface="Aptos"/>
                <a:ea typeface="Aptos"/>
                <a:cs typeface="Aptos"/>
              </a:rPr>
              <a:t>volumetrico</a:t>
            </a:r>
            <a:r>
              <a:rPr sz="1013" b="0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, ETD, ETA y </a:t>
            </a:r>
            <a:r>
              <a:rPr sz="1013" b="0" dirty="0" err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documentos</a:t>
            </a:r>
            <a:r>
              <a:rPr sz="1013" b="0" dirty="0">
                <a:solidFill>
                  <a:srgbClr val="66727C"/>
                </a:solidFill>
                <a:latin typeface="Aptos"/>
                <a:ea typeface="Aptos"/>
                <a:cs typeface="Aptos"/>
              </a:rPr>
              <a:t>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26E70001-A851-4D4C-A739-44AE7A9E78A0}"/>
              </a:ext>
            </a:extLst>
          </p:cNvPr>
          <p:cNvSpPr>
            <a:spLocks noGrp="1"/>
          </p:cNvSpPr>
          <p:nvPr/>
        </p:nvSpPr>
        <p:spPr>
          <a:xfrm>
            <a:off x="6134100" y="2743200"/>
            <a:ext cx="4648200" cy="10477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9431638-2B22-4648-82E0-68B9C15DBB82}"/>
              </a:ext>
            </a:extLst>
          </p:cNvPr>
          <p:cNvSpPr>
            <a:spLocks noGrp="1"/>
          </p:cNvSpPr>
          <p:nvPr/>
        </p:nvSpPr>
        <p:spPr>
          <a:xfrm>
            <a:off x="6134100" y="2743200"/>
            <a:ext cx="47625" cy="10477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3EFC3E5-EB66-4FC2-8A26-521F1D6796A2}"/>
              </a:ext>
            </a:extLst>
          </p:cNvPr>
          <p:cNvSpPr>
            <a:spLocks noGrp="1"/>
          </p:cNvSpPr>
          <p:nvPr/>
        </p:nvSpPr>
        <p:spPr>
          <a:xfrm>
            <a:off x="6305550" y="2886075"/>
            <a:ext cx="432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Maritimo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AC6C1B2-9FCB-4DFC-94EF-2890A7806094}"/>
              </a:ext>
            </a:extLst>
          </p:cNvPr>
          <p:cNvSpPr>
            <a:spLocks noGrp="1"/>
          </p:cNvSpPr>
          <p:nvPr/>
        </p:nvSpPr>
        <p:spPr>
          <a:xfrm>
            <a:off x="6305550" y="3162300"/>
            <a:ext cx="432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MBL/HBL, naviera, puertos, free days, itinerario y referencias documentales.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F3926FD5-9175-4E43-9F64-FB349C2D6059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4648200" cy="1047750"/>
          </a:xfrm>
          <a:prstGeom prst="rect">
            <a:avLst/>
          </a:prstGeom>
          <a:solidFill>
            <a:srgbClr val="EDF4F3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6B4BA6A4-7CB3-4AC3-A706-B7EC18416EEE}"/>
              </a:ext>
            </a:extLst>
          </p:cNvPr>
          <p:cNvSpPr>
            <a:spLocks noGrp="1"/>
          </p:cNvSpPr>
          <p:nvPr/>
        </p:nvSpPr>
        <p:spPr>
          <a:xfrm>
            <a:off x="914400" y="4133850"/>
            <a:ext cx="47625" cy="10477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B76D5E8-B348-4154-BFA5-0124684D4C16}"/>
              </a:ext>
            </a:extLst>
          </p:cNvPr>
          <p:cNvSpPr>
            <a:spLocks noGrp="1"/>
          </p:cNvSpPr>
          <p:nvPr/>
        </p:nvSpPr>
        <p:spPr>
          <a:xfrm>
            <a:off x="1085850" y="4276725"/>
            <a:ext cx="432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Terrestre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1A1777FE-9D7D-4666-8704-3AC4134D2418}"/>
              </a:ext>
            </a:extLst>
          </p:cNvPr>
          <p:cNvSpPr>
            <a:spLocks noGrp="1"/>
          </p:cNvSpPr>
          <p:nvPr/>
        </p:nvSpPr>
        <p:spPr>
          <a:xfrm>
            <a:off x="1085850" y="4552950"/>
            <a:ext cx="432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CRT, MIC/DTA, transportista, origen, destino, fechas y datos del traslado.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097BC73-50BC-4E32-9BFA-D2F02CF04D21}"/>
              </a:ext>
            </a:extLst>
          </p:cNvPr>
          <p:cNvSpPr>
            <a:spLocks noGrp="1"/>
          </p:cNvSpPr>
          <p:nvPr/>
        </p:nvSpPr>
        <p:spPr>
          <a:xfrm>
            <a:off x="6134100" y="4133850"/>
            <a:ext cx="4648200" cy="10477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0260018-A532-432F-9F52-068577A42348}"/>
              </a:ext>
            </a:extLst>
          </p:cNvPr>
          <p:cNvSpPr>
            <a:spLocks noGrp="1"/>
          </p:cNvSpPr>
          <p:nvPr/>
        </p:nvSpPr>
        <p:spPr>
          <a:xfrm>
            <a:off x="6134100" y="4133850"/>
            <a:ext cx="47625" cy="10477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879CD6D-74F0-48A0-848E-75E184752DFB}"/>
              </a:ext>
            </a:extLst>
          </p:cNvPr>
          <p:cNvSpPr>
            <a:spLocks noGrp="1"/>
          </p:cNvSpPr>
          <p:nvPr/>
        </p:nvSpPr>
        <p:spPr>
          <a:xfrm>
            <a:off x="6305550" y="4276725"/>
            <a:ext cx="43243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Multimodal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8306AA1C-8955-4ECE-A4EC-EBF0B3220BC9}"/>
              </a:ext>
            </a:extLst>
          </p:cNvPr>
          <p:cNvSpPr>
            <a:spLocks noGrp="1"/>
          </p:cNvSpPr>
          <p:nvPr/>
        </p:nvSpPr>
        <p:spPr>
          <a:xfrm>
            <a:off x="6305550" y="4552950"/>
            <a:ext cx="43243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Tramos por modo, carrier, origen, destino, documentos y fechas por leg.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637DE339-2356-408F-965A-4D1DBFC22744}"/>
              </a:ext>
            </a:extLst>
          </p:cNvPr>
          <p:cNvSpPr>
            <a:spLocks noGrp="1"/>
          </p:cNvSpPr>
          <p:nvPr/>
        </p:nvSpPr>
        <p:spPr>
          <a:xfrm>
            <a:off x="2190750" y="5657850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 vendedor, el operador y administracion hablan de la misma OP.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E58AD8B-9986-489B-B17C-204CF96F979F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1EF1522-91BF-4EEC-AB79-442CBBD4989D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75931881-7285-4A25-83FD-056876F0C00A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21746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ángulo 23">
            <a:extLst>
              <a:ext uri="{FF2B5EF4-FFF2-40B4-BE49-F238E27FC236}">
                <a16:creationId xmlns:a16="http://schemas.microsoft.com/office/drawing/2014/main" id="{ACF23EDB-4818-4A9F-A6F1-CE3FEFA0F9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0F5AF2C-82D9-413F-9E37-290AF93FB8C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5FD1FBB-EF8B-4234-BBCB-F72787A2B76A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85859FB-54BE-40EA-8683-321082E76F8A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2664590-EBD8-4375-A4C0-603061EF5B53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DOCUMENTOS Y REPORTES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4483235-B90B-4368-BED8-02661347BF52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95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Documentos y comunicaciones quedan amarrados a la operacion.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2B07DAFB-7C7C-4FFB-8B26-C05E64200B2D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sistema centraliza archivos, nombres visibles, reportes internos y solicitudes de tarifa para reducir busquedas y reprocesos.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B06D89C-9ABD-47EF-8EE1-827F3671CCF7}"/>
              </a:ext>
            </a:extLst>
          </p:cNvPr>
          <p:cNvSpPr>
            <a:spLocks noGrp="1"/>
          </p:cNvSpPr>
          <p:nvPr/>
        </p:nvSpPr>
        <p:spPr>
          <a:xfrm>
            <a:off x="1104900" y="3028950"/>
            <a:ext cx="20764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8F642EA-A24D-4847-A802-9C2479F689F3}"/>
              </a:ext>
            </a:extLst>
          </p:cNvPr>
          <p:cNvSpPr>
            <a:spLocks noGrp="1"/>
          </p:cNvSpPr>
          <p:nvPr/>
        </p:nvSpPr>
        <p:spPr>
          <a:xfrm>
            <a:off x="1295400" y="32956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DOC MASTER / HOUSE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B825421-2F84-431F-AD7F-7F5C591E5059}"/>
              </a:ext>
            </a:extLst>
          </p:cNvPr>
          <p:cNvSpPr>
            <a:spLocks noGrp="1"/>
          </p:cNvSpPr>
          <p:nvPr/>
        </p:nvSpPr>
        <p:spPr>
          <a:xfrm>
            <a:off x="1295400" y="379095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MBL, HBL, CRT, MIC/DTA o equivalentes por modalidad.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E6D6FF4-93EC-4E09-A731-16F71F7A7E66}"/>
              </a:ext>
            </a:extLst>
          </p:cNvPr>
          <p:cNvSpPr>
            <a:spLocks noGrp="1"/>
          </p:cNvSpPr>
          <p:nvPr/>
        </p:nvSpPr>
        <p:spPr>
          <a:xfrm>
            <a:off x="3581400" y="3028950"/>
            <a:ext cx="2076450" cy="14668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CD8668F-F9AD-4325-BA64-6CC473C54493}"/>
              </a:ext>
            </a:extLst>
          </p:cNvPr>
          <p:cNvSpPr>
            <a:spLocks noGrp="1"/>
          </p:cNvSpPr>
          <p:nvPr/>
        </p:nvSpPr>
        <p:spPr>
          <a:xfrm>
            <a:off x="3771900" y="32956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Comerciales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DBE52136-750B-4104-A09C-A8F67338FCEB}"/>
              </a:ext>
            </a:extLst>
          </p:cNvPr>
          <p:cNvSpPr>
            <a:spLocks noGrp="1"/>
          </p:cNvSpPr>
          <p:nvPr/>
        </p:nvSpPr>
        <p:spPr>
          <a:xfrm>
            <a:off x="3771900" y="379095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 comercial, packing list, certificado de origen, poliza y adjuntos.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3941EC34-E46A-40C0-9121-0B846CA60510}"/>
              </a:ext>
            </a:extLst>
          </p:cNvPr>
          <p:cNvSpPr>
            <a:spLocks noGrp="1"/>
          </p:cNvSpPr>
          <p:nvPr/>
        </p:nvSpPr>
        <p:spPr>
          <a:xfrm>
            <a:off x="6057900" y="3028950"/>
            <a:ext cx="2076450" cy="14668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867C78E2-5600-4F4E-B929-AFEEAEA6710F}"/>
              </a:ext>
            </a:extLst>
          </p:cNvPr>
          <p:cNvSpPr>
            <a:spLocks noGrp="1"/>
          </p:cNvSpPr>
          <p:nvPr/>
        </p:nvSpPr>
        <p:spPr>
          <a:xfrm>
            <a:off x="6248400" y="32956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Reportes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523BDC11-2959-43E6-8725-6FA904A8E3C6}"/>
              </a:ext>
            </a:extLst>
          </p:cNvPr>
          <p:cNvSpPr>
            <a:spLocks noGrp="1"/>
          </p:cNvSpPr>
          <p:nvPr/>
        </p:nvSpPr>
        <p:spPr>
          <a:xfrm>
            <a:off x="6248400" y="379095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Informe interno por operacion y status report para seguimiento.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FAD0847-97FC-4242-A0F4-22B75E4E0D25}"/>
              </a:ext>
            </a:extLst>
          </p:cNvPr>
          <p:cNvSpPr>
            <a:spLocks noGrp="1"/>
          </p:cNvSpPr>
          <p:nvPr/>
        </p:nvSpPr>
        <p:spPr>
          <a:xfrm>
            <a:off x="8534400" y="3028950"/>
            <a:ext cx="2076450" cy="1466850"/>
          </a:xfrm>
          <a:prstGeom prst="rect">
            <a:avLst/>
          </a:prstGeom>
          <a:solidFill>
            <a:srgbClr val="F7EEE8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06E5AEA2-5CC5-4F20-8AB7-7C61BC559F54}"/>
              </a:ext>
            </a:extLst>
          </p:cNvPr>
          <p:cNvSpPr>
            <a:spLocks noGrp="1"/>
          </p:cNvSpPr>
          <p:nvPr/>
        </p:nvSpPr>
        <p:spPr>
          <a:xfrm>
            <a:off x="8724900" y="3295650"/>
            <a:ext cx="16192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Email operativo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F5A514E-CA0C-460F-9A95-414AF0FAD9B3}"/>
              </a:ext>
            </a:extLst>
          </p:cNvPr>
          <p:cNvSpPr>
            <a:spLocks noGrp="1"/>
          </p:cNvSpPr>
          <p:nvPr/>
        </p:nvSpPr>
        <p:spPr>
          <a:xfrm>
            <a:off x="8724900" y="3790950"/>
            <a:ext cx="15811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Solicitud de flete y envio de informes desde el expediente.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69EC9774-A9EB-4856-A3B6-57CE3CC1A3B7}"/>
              </a:ext>
            </a:extLst>
          </p:cNvPr>
          <p:cNvSpPr>
            <a:spLocks noGrp="1"/>
          </p:cNvSpPr>
          <p:nvPr/>
        </p:nvSpPr>
        <p:spPr>
          <a:xfrm>
            <a:off x="2152650" y="5219700"/>
            <a:ext cx="75247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Menos carpetas sueltas. Mas trazabilidad por referencia de operacion.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0E69B6D9-1D48-4EDB-9D9B-DFE9081715B2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03E74A52-71DE-48F7-B52A-4EA02EE125C1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2A487BA2-2FC1-42C6-8203-833B0F574C78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430363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8B20CE6F-5870-48A8-8A80-1B811F305B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9DA203D-261A-4411-AC97-E47D5D57E3B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9BEF482-50CD-484E-9B0B-BA3F03DC5900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EEB304E-7A79-4648-B22D-7C04C95868C7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6F9DBDD0-3599-4604-AF79-1D7405DFDD62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RENTABILIDAD POR OP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D48B543-6E3B-4218-8B27-0D82FD06E55B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95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El cost sheet permite defender margen antes de cerrar la operacion.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352F5BB-D928-4CBC-83AC-EDDD3D8E1D36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conecta compra, venta, gastos locales, seguro y profit para que la gerencia vea rentabilidad por OP.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9B4EEED-573A-442B-935E-8BDA0C63970E}"/>
              </a:ext>
            </a:extLst>
          </p:cNvPr>
          <p:cNvSpPr>
            <a:spLocks noGrp="1"/>
          </p:cNvSpPr>
          <p:nvPr/>
        </p:nvSpPr>
        <p:spPr>
          <a:xfrm>
            <a:off x="1143000" y="30289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Compra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97F2E4-0A53-4323-8E47-FBD69600F3A9}"/>
              </a:ext>
            </a:extLst>
          </p:cNvPr>
          <p:cNvSpPr>
            <a:spLocks noGrp="1"/>
          </p:cNvSpPr>
          <p:nvPr/>
        </p:nvSpPr>
        <p:spPr>
          <a:xfrm>
            <a:off x="2343150" y="3009900"/>
            <a:ext cx="2857500" cy="28575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D83CB03-D0D6-4C4A-9FE8-82111E6A469D}"/>
              </a:ext>
            </a:extLst>
          </p:cNvPr>
          <p:cNvSpPr>
            <a:spLocks noGrp="1"/>
          </p:cNvSpPr>
          <p:nvPr/>
        </p:nvSpPr>
        <p:spPr>
          <a:xfrm>
            <a:off x="1143000" y="3657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Venta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295CDA15-5726-454A-BDDD-76358F1E97A3}"/>
              </a:ext>
            </a:extLst>
          </p:cNvPr>
          <p:cNvSpPr>
            <a:spLocks noGrp="1"/>
          </p:cNvSpPr>
          <p:nvPr/>
        </p:nvSpPr>
        <p:spPr>
          <a:xfrm>
            <a:off x="2343150" y="3638550"/>
            <a:ext cx="4095750" cy="2857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0927033-C355-4261-9DB7-0113710BC02C}"/>
              </a:ext>
            </a:extLst>
          </p:cNvPr>
          <p:cNvSpPr>
            <a:spLocks noGrp="1"/>
          </p:cNvSpPr>
          <p:nvPr/>
        </p:nvSpPr>
        <p:spPr>
          <a:xfrm>
            <a:off x="1143000" y="428625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Profit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BECA1F9-1F77-41EB-9164-D4B39EBC4B60}"/>
              </a:ext>
            </a:extLst>
          </p:cNvPr>
          <p:cNvSpPr>
            <a:spLocks noGrp="1"/>
          </p:cNvSpPr>
          <p:nvPr/>
        </p:nvSpPr>
        <p:spPr>
          <a:xfrm>
            <a:off x="2343150" y="4267200"/>
            <a:ext cx="1619250" cy="28575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559A3613-4F7E-4224-82CE-3630E03A941D}"/>
              </a:ext>
            </a:extLst>
          </p:cNvPr>
          <p:cNvSpPr>
            <a:spLocks noGrp="1"/>
          </p:cNvSpPr>
          <p:nvPr/>
        </p:nvSpPr>
        <p:spPr>
          <a:xfrm>
            <a:off x="6858000" y="2724150"/>
            <a:ext cx="9525" cy="2190750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37D29B9-2157-4354-81B6-4336820CFC2E}"/>
              </a:ext>
            </a:extLst>
          </p:cNvPr>
          <p:cNvSpPr>
            <a:spLocks noGrp="1"/>
          </p:cNvSpPr>
          <p:nvPr/>
        </p:nvSpPr>
        <p:spPr>
          <a:xfrm>
            <a:off x="7334250" y="2781300"/>
            <a:ext cx="3143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8F99E9D-6382-4393-B92A-230C3F9CD5E1}"/>
              </a:ext>
            </a:extLst>
          </p:cNvPr>
          <p:cNvSpPr>
            <a:spLocks noGrp="1"/>
          </p:cNvSpPr>
          <p:nvPr/>
        </p:nvSpPr>
        <p:spPr>
          <a:xfrm>
            <a:off x="7486650" y="28956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Versiones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D52A0CF-5E2C-4308-8151-18A76573591B}"/>
              </a:ext>
            </a:extLst>
          </p:cNvPr>
          <p:cNvSpPr>
            <a:spLocks noGrp="1"/>
          </p:cNvSpPr>
          <p:nvPr/>
        </p:nvSpPr>
        <p:spPr>
          <a:xfrm>
            <a:off x="8648700" y="28860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Guardar escenarios y revisiones.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F27E6F0-2DBA-42A4-92E1-A15E02DF098A}"/>
              </a:ext>
            </a:extLst>
          </p:cNvPr>
          <p:cNvSpPr>
            <a:spLocks noGrp="1"/>
          </p:cNvSpPr>
          <p:nvPr/>
        </p:nvSpPr>
        <p:spPr>
          <a:xfrm>
            <a:off x="7334250" y="3333750"/>
            <a:ext cx="3143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D39A2D33-D968-4820-BF52-165D2C0E9314}"/>
              </a:ext>
            </a:extLst>
          </p:cNvPr>
          <p:cNvSpPr>
            <a:spLocks noGrp="1"/>
          </p:cNvSpPr>
          <p:nvPr/>
        </p:nvSpPr>
        <p:spPr>
          <a:xfrm>
            <a:off x="7486650" y="34480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Compra vs venta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F625448B-FDFC-498F-BB4E-4ED21B32F7FF}"/>
              </a:ext>
            </a:extLst>
          </p:cNvPr>
          <p:cNvSpPr>
            <a:spLocks noGrp="1"/>
          </p:cNvSpPr>
          <p:nvPr/>
        </p:nvSpPr>
        <p:spPr>
          <a:xfrm>
            <a:off x="8648700" y="343852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Comparar costo real y precio vendido.</a:t>
            </a: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AB77C9B-5F37-471B-981B-CE603755E2BA}"/>
              </a:ext>
            </a:extLst>
          </p:cNvPr>
          <p:cNvSpPr>
            <a:spLocks noGrp="1"/>
          </p:cNvSpPr>
          <p:nvPr/>
        </p:nvSpPr>
        <p:spPr>
          <a:xfrm>
            <a:off x="7334250" y="3886200"/>
            <a:ext cx="3143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B12EF634-21B2-43D8-8FBD-8DB0A8579DC8}"/>
              </a:ext>
            </a:extLst>
          </p:cNvPr>
          <p:cNvSpPr>
            <a:spLocks noGrp="1"/>
          </p:cNvSpPr>
          <p:nvPr/>
        </p:nvSpPr>
        <p:spPr>
          <a:xfrm>
            <a:off x="7486650" y="400050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Sobrecosto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ABA0F443-0E79-4619-8298-2935DBFD4864}"/>
              </a:ext>
            </a:extLst>
          </p:cNvPr>
          <p:cNvSpPr>
            <a:spLocks noGrp="1"/>
          </p:cNvSpPr>
          <p:nvPr/>
        </p:nvSpPr>
        <p:spPr>
          <a:xfrm>
            <a:off x="8648700" y="399097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Marcar operaciones fuera de presupuesto.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32284AE-9CEE-476B-AC93-E8FC9712C0EE}"/>
              </a:ext>
            </a:extLst>
          </p:cNvPr>
          <p:cNvSpPr>
            <a:spLocks noGrp="1"/>
          </p:cNvSpPr>
          <p:nvPr/>
        </p:nvSpPr>
        <p:spPr>
          <a:xfrm>
            <a:off x="7334250" y="4438650"/>
            <a:ext cx="3143250" cy="4191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C8EBD71-8EB8-4629-9CB1-96AE0EEC8317}"/>
              </a:ext>
            </a:extLst>
          </p:cNvPr>
          <p:cNvSpPr>
            <a:spLocks noGrp="1"/>
          </p:cNvSpPr>
          <p:nvPr/>
        </p:nvSpPr>
        <p:spPr>
          <a:xfrm>
            <a:off x="7486650" y="4552950"/>
            <a:ext cx="1047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Profit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53887C10-B19D-4AA0-911A-D67D71816886}"/>
              </a:ext>
            </a:extLst>
          </p:cNvPr>
          <p:cNvSpPr>
            <a:spLocks noGrp="1"/>
          </p:cNvSpPr>
          <p:nvPr/>
        </p:nvSpPr>
        <p:spPr>
          <a:xfrm>
            <a:off x="8648700" y="4543425"/>
            <a:ext cx="1619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38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Ver margen por moneda y por etapa.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D0F895D-77C6-4495-BF28-AC6FDB0DAC60}"/>
              </a:ext>
            </a:extLst>
          </p:cNvPr>
          <p:cNvSpPr>
            <a:spLocks noGrp="1"/>
          </p:cNvSpPr>
          <p:nvPr/>
        </p:nvSpPr>
        <p:spPr>
          <a:xfrm>
            <a:off x="1562100" y="5467350"/>
            <a:ext cx="8572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80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Beneficio: la agencia sabe si esta ganando dinero mientras todavia puede corregir.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2F4B046-C393-41A3-B2E6-2882CEB67654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FE8FE97-FBBA-45E2-A76C-1E2A0CCA2530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BDEF8644-52DC-470C-9D99-B1972F7CB9E9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884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17177D08-D03E-4144-AFF0-5F78DBAEF7F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8F3F1D8-0FD6-4A5F-9011-2540E0B2D8B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A8E4B50-8C37-40E9-A788-29D6224CB9A1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E484E50-BC69-4835-B048-2C1C4AA0CC35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35EE21D-1403-4D1E-BE64-B100566970D5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ADMINISTRACION Y FINANZAS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8D0721B-D167-4F99-A0E1-32340228733E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572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Administracion se ordena alrededor de cada embarque.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81B7624-FCDC-4A5F-9CC1-25AD28A12A04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Facturas, compras operativas, recibos, pagos y saldos dejan de vivir separados de la OP.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AA10C5A-1FAB-425C-A865-7C4E0FE35CDB}"/>
              </a:ext>
            </a:extLst>
          </p:cNvPr>
          <p:cNvSpPr>
            <a:spLocks noGrp="1"/>
          </p:cNvSpPr>
          <p:nvPr/>
        </p:nvSpPr>
        <p:spPr>
          <a:xfrm>
            <a:off x="1143000" y="28765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74A6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4A63"/>
                </a:solidFill>
                <a:latin typeface="Aptos"/>
                <a:ea typeface="Aptos"/>
                <a:cs typeface="Aptos"/>
              </a:rPr>
              <a:t>Facturas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D2DB77A4-0208-4CBA-9F85-22A404525C08}"/>
              </a:ext>
            </a:extLst>
          </p:cNvPr>
          <p:cNvSpPr>
            <a:spLocks noGrp="1"/>
          </p:cNvSpPr>
          <p:nvPr/>
        </p:nvSpPr>
        <p:spPr>
          <a:xfrm>
            <a:off x="1143000" y="32766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emision, PDF y saldo por cliente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63492A8-B896-4820-83A7-0E19E665AA0E}"/>
              </a:ext>
            </a:extLst>
          </p:cNvPr>
          <p:cNvSpPr>
            <a:spLocks noGrp="1"/>
          </p:cNvSpPr>
          <p:nvPr/>
        </p:nvSpPr>
        <p:spPr>
          <a:xfrm>
            <a:off x="3829050" y="2876550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46A37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46A37"/>
                </a:solidFill>
                <a:latin typeface="Aptos"/>
                <a:ea typeface="Aptos"/>
                <a:cs typeface="Aptos"/>
              </a:rPr>
              <a:t>Compras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E23F229-CC0F-4A4A-88CA-51F6CE58CA4E}"/>
              </a:ext>
            </a:extLst>
          </p:cNvPr>
          <p:cNvSpPr>
            <a:spLocks noGrp="1"/>
          </p:cNvSpPr>
          <p:nvPr/>
        </p:nvSpPr>
        <p:spPr>
          <a:xfrm>
            <a:off x="3829050" y="3276600"/>
            <a:ext cx="2095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proveedores, documentos y gastos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8BAE318-F8F3-4A48-B960-700FF10FF2A8}"/>
              </a:ext>
            </a:extLst>
          </p:cNvPr>
          <p:cNvSpPr>
            <a:spLocks noGrp="1"/>
          </p:cNvSpPr>
          <p:nvPr/>
        </p:nvSpPr>
        <p:spPr>
          <a:xfrm>
            <a:off x="6515100" y="28765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3A7D6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A7D6A"/>
                </a:solidFill>
                <a:latin typeface="Aptos"/>
                <a:ea typeface="Aptos"/>
                <a:cs typeface="Aptos"/>
              </a:rPr>
              <a:t>Pagos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B749845-3846-4BFD-BB19-48D1E70757FB}"/>
              </a:ext>
            </a:extLst>
          </p:cNvPr>
          <p:cNvSpPr>
            <a:spLocks noGrp="1"/>
          </p:cNvSpPr>
          <p:nvPr/>
        </p:nvSpPr>
        <p:spPr>
          <a:xfrm>
            <a:off x="6515100" y="32766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recibos, ordenes y cuentas a pagar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612D7E2-B637-4AFC-94E3-9243C2BB6DD0}"/>
              </a:ext>
            </a:extLst>
          </p:cNvPr>
          <p:cNvSpPr>
            <a:spLocks noGrp="1"/>
          </p:cNvSpPr>
          <p:nvPr/>
        </p:nvSpPr>
        <p:spPr>
          <a:xfrm>
            <a:off x="9239250" y="2876550"/>
            <a:ext cx="219075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A44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A441"/>
                </a:solidFill>
                <a:latin typeface="Aptos"/>
                <a:ea typeface="Aptos"/>
                <a:cs typeface="Aptos"/>
              </a:rPr>
              <a:t>Gerencia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CFF01638-3DE6-4CCD-ACCE-D3C36D3C96E6}"/>
              </a:ext>
            </a:extLst>
          </p:cNvPr>
          <p:cNvSpPr>
            <a:spLocks noGrp="1"/>
          </p:cNvSpPr>
          <p:nvPr/>
        </p:nvSpPr>
        <p:spPr>
          <a:xfrm>
            <a:off x="9239250" y="3276600"/>
            <a:ext cx="2190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facturado, cobrado, gastos y margen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96B0A3F7-E581-408A-ADF4-0F6D76D34651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2667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1B7E5D7-DB56-4798-B199-522107844782}"/>
              </a:ext>
            </a:extLst>
          </p:cNvPr>
          <p:cNvSpPr>
            <a:spLocks noGrp="1"/>
          </p:cNvSpPr>
          <p:nvPr/>
        </p:nvSpPr>
        <p:spPr>
          <a:xfrm>
            <a:off x="1619250" y="4476750"/>
            <a:ext cx="47625" cy="8763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EF96BD3-3947-4BAC-B9BE-ADE151810EAA}"/>
              </a:ext>
            </a:extLst>
          </p:cNvPr>
          <p:cNvSpPr>
            <a:spLocks noGrp="1"/>
          </p:cNvSpPr>
          <p:nvPr/>
        </p:nvSpPr>
        <p:spPr>
          <a:xfrm>
            <a:off x="1790700" y="4619625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Estado de cuenta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3D212558-E8C2-4C1B-AC1E-3212E36C5D11}"/>
              </a:ext>
            </a:extLst>
          </p:cNvPr>
          <p:cNvSpPr>
            <a:spLocks noGrp="1"/>
          </p:cNvSpPr>
          <p:nvPr/>
        </p:nvSpPr>
        <p:spPr>
          <a:xfrm>
            <a:off x="1790700" y="489585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La agencia puede ver deuda, pagos, saldos y moneda por cliente.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B227C752-302D-480B-A9B3-9ABEBC625627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2667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2D604E5F-D2F8-4AFD-99AE-254476E8EBE9}"/>
              </a:ext>
            </a:extLst>
          </p:cNvPr>
          <p:cNvSpPr>
            <a:spLocks noGrp="1"/>
          </p:cNvSpPr>
          <p:nvPr/>
        </p:nvSpPr>
        <p:spPr>
          <a:xfrm>
            <a:off x="4762500" y="4476750"/>
            <a:ext cx="47625" cy="8763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6AB8D99F-6C7D-4B10-B564-0D2449EE0AC9}"/>
              </a:ext>
            </a:extLst>
          </p:cNvPr>
          <p:cNvSpPr>
            <a:spLocks noGrp="1"/>
          </p:cNvSpPr>
          <p:nvPr/>
        </p:nvSpPr>
        <p:spPr>
          <a:xfrm>
            <a:off x="4933950" y="4619625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Tablero financiero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8B85916-68EC-4A2F-AB31-D257CEC8B7E3}"/>
              </a:ext>
            </a:extLst>
          </p:cNvPr>
          <p:cNvSpPr>
            <a:spLocks noGrp="1"/>
          </p:cNvSpPr>
          <p:nvPr/>
        </p:nvSpPr>
        <p:spPr>
          <a:xfrm>
            <a:off x="4933950" y="489585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La direccion consulta informacion consolidada para decidir.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A4799F44-8A43-4C00-8A54-A9BF15726349}"/>
              </a:ext>
            </a:extLst>
          </p:cNvPr>
          <p:cNvSpPr>
            <a:spLocks noGrp="1"/>
          </p:cNvSpPr>
          <p:nvPr/>
        </p:nvSpPr>
        <p:spPr>
          <a:xfrm>
            <a:off x="7905750" y="4476750"/>
            <a:ext cx="2667000" cy="8763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75DD2C8-1851-4275-AE74-16EF4B370A69}"/>
              </a:ext>
            </a:extLst>
          </p:cNvPr>
          <p:cNvSpPr>
            <a:spLocks noGrp="1"/>
          </p:cNvSpPr>
          <p:nvPr/>
        </p:nvSpPr>
        <p:spPr>
          <a:xfrm>
            <a:off x="7905750" y="4476750"/>
            <a:ext cx="47625" cy="8763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DCA7F87-5A1C-47A3-86A6-6B1B40C87C0F}"/>
              </a:ext>
            </a:extLst>
          </p:cNvPr>
          <p:cNvSpPr>
            <a:spLocks noGrp="1"/>
          </p:cNvSpPr>
          <p:nvPr/>
        </p:nvSpPr>
        <p:spPr>
          <a:xfrm>
            <a:off x="8077200" y="4619625"/>
            <a:ext cx="23431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Cuentas a pagar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2FFB5E1A-A07F-4C47-8CF3-860C6CDFD1F4}"/>
              </a:ext>
            </a:extLst>
          </p:cNvPr>
          <p:cNvSpPr>
            <a:spLocks noGrp="1"/>
          </p:cNvSpPr>
          <p:nvPr/>
        </p:nvSpPr>
        <p:spPr>
          <a:xfrm>
            <a:off x="8077200" y="4895850"/>
            <a:ext cx="2343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Proveedores y obligaciones se ordenan desde la operacion.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5296C635-2A23-4C7D-8849-51DA7880B5BC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A144055-F69B-4418-8185-DDA7BCDA3AF2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E61868E7-96D3-4A1D-B5A7-CB6EE0A1B616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66380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ángulo 41">
            <a:extLst>
              <a:ext uri="{FF2B5EF4-FFF2-40B4-BE49-F238E27FC236}">
                <a16:creationId xmlns:a16="http://schemas.microsoft.com/office/drawing/2014/main" id="{20703A66-9E0A-4B42-97A7-B9CDB5798E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0C55E10E-5CA6-4A39-B5F4-74CF0ED5F95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F261C8DC-D82D-464D-9B96-14BFA1427658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5B70B0D-5D50-4CCF-AB80-AF553FDD0C9F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16BB6D07-AD3F-45F2-9721-71172A78BC02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POSICIONAMIENTO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3EE8360-2422-495E-9561-2F7EA69B95B9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9535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Frente a suites globales, ATM CARGO compite por cercania y foco regional.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8BBB319E-A8A2-41C8-9961-03B9048DCDC3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No intenta vender complejidad multinacional: vende control operativo-financiero para agencias que necesitan ordenar y crecer.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0E48038-C621-458C-8242-55CC6560B2C9}"/>
              </a:ext>
            </a:extLst>
          </p:cNvPr>
          <p:cNvSpPr>
            <a:spLocks noGrp="1"/>
          </p:cNvSpPr>
          <p:nvPr/>
        </p:nvSpPr>
        <p:spPr>
          <a:xfrm>
            <a:off x="895350" y="2686050"/>
            <a:ext cx="2286000" cy="40005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2562053-285E-465E-8DC7-4B7F5E9F7F0A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2019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Necesidad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39AA35A-1712-4FD8-BEC8-BA1D2C42B10D}"/>
              </a:ext>
            </a:extLst>
          </p:cNvPr>
          <p:cNvSpPr>
            <a:spLocks noGrp="1"/>
          </p:cNvSpPr>
          <p:nvPr/>
        </p:nvSpPr>
        <p:spPr>
          <a:xfrm>
            <a:off x="3181350" y="2686050"/>
            <a:ext cx="3714750" cy="40005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A2BE944-981D-4390-A257-05D043F12955}"/>
              </a:ext>
            </a:extLst>
          </p:cNvPr>
          <p:cNvSpPr>
            <a:spLocks noGrp="1"/>
          </p:cNvSpPr>
          <p:nvPr/>
        </p:nvSpPr>
        <p:spPr>
          <a:xfrm>
            <a:off x="3314700" y="2800350"/>
            <a:ext cx="3448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Suites globales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64E3002-0A99-4BA0-B922-7D5EEDFC9289}"/>
              </a:ext>
            </a:extLst>
          </p:cNvPr>
          <p:cNvSpPr>
            <a:spLocks noGrp="1"/>
          </p:cNvSpPr>
          <p:nvPr/>
        </p:nvSpPr>
        <p:spPr>
          <a:xfrm>
            <a:off x="6896100" y="2686050"/>
            <a:ext cx="4095750" cy="40005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AF3339DA-F5E9-4EFF-AD7E-A44D71E35C53}"/>
              </a:ext>
            </a:extLst>
          </p:cNvPr>
          <p:cNvSpPr>
            <a:spLocks noGrp="1"/>
          </p:cNvSpPr>
          <p:nvPr/>
        </p:nvSpPr>
        <p:spPr>
          <a:xfrm>
            <a:off x="7029450" y="2800350"/>
            <a:ext cx="38290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 CARGO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6B5FF31-97BE-4007-8EE4-C00303625BED}"/>
              </a:ext>
            </a:extLst>
          </p:cNvPr>
          <p:cNvSpPr>
            <a:spLocks noGrp="1"/>
          </p:cNvSpPr>
          <p:nvPr/>
        </p:nvSpPr>
        <p:spPr>
          <a:xfrm>
            <a:off x="895350" y="3086100"/>
            <a:ext cx="2286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932870E-020D-4DDC-A19F-F533B2747394}"/>
              </a:ext>
            </a:extLst>
          </p:cNvPr>
          <p:cNvSpPr>
            <a:spLocks noGrp="1"/>
          </p:cNvSpPr>
          <p:nvPr/>
        </p:nvSpPr>
        <p:spPr>
          <a:xfrm>
            <a:off x="1028700" y="3219450"/>
            <a:ext cx="201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Control diario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6A066B8A-7465-4B6D-98DD-AB9088093E19}"/>
              </a:ext>
            </a:extLst>
          </p:cNvPr>
          <p:cNvSpPr>
            <a:spLocks noGrp="1"/>
          </p:cNvSpPr>
          <p:nvPr/>
        </p:nvSpPr>
        <p:spPr>
          <a:xfrm>
            <a:off x="3181350" y="3086100"/>
            <a:ext cx="3714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13F0EF6-1265-43E0-ABDA-12D580F33F2C}"/>
              </a:ext>
            </a:extLst>
          </p:cNvPr>
          <p:cNvSpPr>
            <a:spLocks noGrp="1"/>
          </p:cNvSpPr>
          <p:nvPr/>
        </p:nvSpPr>
        <p:spPr>
          <a:xfrm>
            <a:off x="3314700" y="3219450"/>
            <a:ext cx="3448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Muy potente, a veces sobredimensionado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2D556C8D-1580-4522-91E9-95D47C8E25F3}"/>
              </a:ext>
            </a:extLst>
          </p:cNvPr>
          <p:cNvSpPr>
            <a:spLocks noGrp="1"/>
          </p:cNvSpPr>
          <p:nvPr/>
        </p:nvSpPr>
        <p:spPr>
          <a:xfrm>
            <a:off x="6896100" y="3086100"/>
            <a:ext cx="4095750" cy="59055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73F20DE9-4A87-4C91-B351-CE684A86A302}"/>
              </a:ext>
            </a:extLst>
          </p:cNvPr>
          <p:cNvSpPr>
            <a:spLocks noGrp="1"/>
          </p:cNvSpPr>
          <p:nvPr/>
        </p:nvSpPr>
        <p:spPr>
          <a:xfrm>
            <a:off x="7029450" y="321945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Flujo directo para ventas, trafico y finanzas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88701AA-1DE2-491C-86C4-1FDA85341758}"/>
              </a:ext>
            </a:extLst>
          </p:cNvPr>
          <p:cNvSpPr>
            <a:spLocks noGrp="1"/>
          </p:cNvSpPr>
          <p:nvPr/>
        </p:nvSpPr>
        <p:spPr>
          <a:xfrm>
            <a:off x="895350" y="3676650"/>
            <a:ext cx="2286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F11C2EA-950B-4DC9-A3F1-2AF77E32F6E3}"/>
              </a:ext>
            </a:extLst>
          </p:cNvPr>
          <p:cNvSpPr>
            <a:spLocks noGrp="1"/>
          </p:cNvSpPr>
          <p:nvPr/>
        </p:nvSpPr>
        <p:spPr>
          <a:xfrm>
            <a:off x="1028700" y="3810000"/>
            <a:ext cx="201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Adaptacion local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31156AA-810D-409B-9E35-F41DB73CBE6A}"/>
              </a:ext>
            </a:extLst>
          </p:cNvPr>
          <p:cNvSpPr>
            <a:spLocks noGrp="1"/>
          </p:cNvSpPr>
          <p:nvPr/>
        </p:nvSpPr>
        <p:spPr>
          <a:xfrm>
            <a:off x="3181350" y="3676650"/>
            <a:ext cx="3714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CB8397F2-7C70-4B1B-A391-05E9CFF41F0B}"/>
              </a:ext>
            </a:extLst>
          </p:cNvPr>
          <p:cNvSpPr>
            <a:spLocks noGrp="1"/>
          </p:cNvSpPr>
          <p:nvPr/>
        </p:nvSpPr>
        <p:spPr>
          <a:xfrm>
            <a:off x="3314700" y="3810000"/>
            <a:ext cx="3448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Estandares globales y configuracion formal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32FB291-6060-4AF3-9F3C-B0023764BF36}"/>
              </a:ext>
            </a:extLst>
          </p:cNvPr>
          <p:cNvSpPr>
            <a:spLocks noGrp="1"/>
          </p:cNvSpPr>
          <p:nvPr/>
        </p:nvSpPr>
        <p:spPr>
          <a:xfrm>
            <a:off x="6896100" y="3676650"/>
            <a:ext cx="4095750" cy="59055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BB270B44-AA73-466C-A324-57DF9ABA1CB4}"/>
              </a:ext>
            </a:extLst>
          </p:cNvPr>
          <p:cNvSpPr>
            <a:spLocks noGrp="1"/>
          </p:cNvSpPr>
          <p:nvPr/>
        </p:nvSpPr>
        <p:spPr>
          <a:xfrm>
            <a:off x="7029450" y="381000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Procesos regionales y parametros editables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FDC683A9-EF9D-481D-9BDA-6CFB0511631F}"/>
              </a:ext>
            </a:extLst>
          </p:cNvPr>
          <p:cNvSpPr>
            <a:spLocks noGrp="1"/>
          </p:cNvSpPr>
          <p:nvPr/>
        </p:nvSpPr>
        <p:spPr>
          <a:xfrm>
            <a:off x="895350" y="4267200"/>
            <a:ext cx="2286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6C71C17-D510-4812-A5E3-EA251D6CADC1}"/>
              </a:ext>
            </a:extLst>
          </p:cNvPr>
          <p:cNvSpPr>
            <a:spLocks noGrp="1"/>
          </p:cNvSpPr>
          <p:nvPr/>
        </p:nvSpPr>
        <p:spPr>
          <a:xfrm>
            <a:off x="1028700" y="4400550"/>
            <a:ext cx="201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Rentabilidad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03C594C7-2361-4369-A49F-A599CC466110}"/>
              </a:ext>
            </a:extLst>
          </p:cNvPr>
          <p:cNvSpPr>
            <a:spLocks noGrp="1"/>
          </p:cNvSpPr>
          <p:nvPr/>
        </p:nvSpPr>
        <p:spPr>
          <a:xfrm>
            <a:off x="3181350" y="4267200"/>
            <a:ext cx="3714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7E91C65B-DA58-4409-AF66-FE406D219B29}"/>
              </a:ext>
            </a:extLst>
          </p:cNvPr>
          <p:cNvSpPr>
            <a:spLocks noGrp="1"/>
          </p:cNvSpPr>
          <p:nvPr/>
        </p:nvSpPr>
        <p:spPr>
          <a:xfrm>
            <a:off x="3314700" y="4400550"/>
            <a:ext cx="3448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Modulo financiero amplio</a:t>
            </a:r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6E7ECFC1-97D5-4A04-8F52-A4138FB6456A}"/>
              </a:ext>
            </a:extLst>
          </p:cNvPr>
          <p:cNvSpPr>
            <a:spLocks noGrp="1"/>
          </p:cNvSpPr>
          <p:nvPr/>
        </p:nvSpPr>
        <p:spPr>
          <a:xfrm>
            <a:off x="6896100" y="4267200"/>
            <a:ext cx="4095750" cy="59055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A297379-2474-4E33-B5A0-22B7BA3AB3EC}"/>
              </a:ext>
            </a:extLst>
          </p:cNvPr>
          <p:cNvSpPr>
            <a:spLocks noGrp="1"/>
          </p:cNvSpPr>
          <p:nvPr/>
        </p:nvSpPr>
        <p:spPr>
          <a:xfrm>
            <a:off x="7029450" y="440055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Profit por OP visible desde cost sheet</a:t>
            </a: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3BAE1167-2307-49A3-9574-04584D7E843F}"/>
              </a:ext>
            </a:extLst>
          </p:cNvPr>
          <p:cNvSpPr>
            <a:spLocks noGrp="1"/>
          </p:cNvSpPr>
          <p:nvPr/>
        </p:nvSpPr>
        <p:spPr>
          <a:xfrm>
            <a:off x="895350" y="4857750"/>
            <a:ext cx="22860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8575F5FA-1947-4ACE-BD77-F1D96FDE6588}"/>
              </a:ext>
            </a:extLst>
          </p:cNvPr>
          <p:cNvSpPr>
            <a:spLocks noGrp="1"/>
          </p:cNvSpPr>
          <p:nvPr/>
        </p:nvSpPr>
        <p:spPr>
          <a:xfrm>
            <a:off x="1028700" y="4991100"/>
            <a:ext cx="20193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Implementacion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617542E2-955D-4F8A-A48A-B6231E8E5CD8}"/>
              </a:ext>
            </a:extLst>
          </p:cNvPr>
          <p:cNvSpPr>
            <a:spLocks noGrp="1"/>
          </p:cNvSpPr>
          <p:nvPr/>
        </p:nvSpPr>
        <p:spPr>
          <a:xfrm>
            <a:off x="3181350" y="4857750"/>
            <a:ext cx="371475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00646D3D-0632-467F-AA29-EE0D829DEF77}"/>
              </a:ext>
            </a:extLst>
          </p:cNvPr>
          <p:cNvSpPr>
            <a:spLocks noGrp="1"/>
          </p:cNvSpPr>
          <p:nvPr/>
        </p:nvSpPr>
        <p:spPr>
          <a:xfrm>
            <a:off x="3314700" y="4991100"/>
            <a:ext cx="3448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Mayor curva de adopcion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E64E49EB-B998-405A-BDDC-9C7D1A044BBD}"/>
              </a:ext>
            </a:extLst>
          </p:cNvPr>
          <p:cNvSpPr>
            <a:spLocks noGrp="1"/>
          </p:cNvSpPr>
          <p:nvPr/>
        </p:nvSpPr>
        <p:spPr>
          <a:xfrm>
            <a:off x="6896100" y="4857750"/>
            <a:ext cx="4095750" cy="590550"/>
          </a:xfrm>
          <a:prstGeom prst="rect">
            <a:avLst/>
          </a:prstGeom>
          <a:solidFill>
            <a:srgbClr val="EEF4F2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01AD769B-F52D-41A0-BF47-39972623DE3B}"/>
              </a:ext>
            </a:extLst>
          </p:cNvPr>
          <p:cNvSpPr>
            <a:spLocks noGrp="1"/>
          </p:cNvSpPr>
          <p:nvPr/>
        </p:nvSpPr>
        <p:spPr>
          <a:xfrm>
            <a:off x="7029450" y="4991100"/>
            <a:ext cx="38290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90" b="0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13232F"/>
                </a:solidFill>
                <a:latin typeface="Aptos"/>
                <a:ea typeface="Aptos"/>
                <a:cs typeface="Aptos"/>
              </a:rPr>
              <a:t>Entrada gradual enfocada en la operacion de carga</a:t>
            </a:r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1149E84F-0384-47E8-B09D-BFF3AF0CFCF8}"/>
              </a:ext>
            </a:extLst>
          </p:cNvPr>
          <p:cNvSpPr>
            <a:spLocks noGrp="1"/>
          </p:cNvSpPr>
          <p:nvPr/>
        </p:nvSpPr>
        <p:spPr>
          <a:xfrm>
            <a:off x="1885950" y="5657850"/>
            <a:ext cx="8096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725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1725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Mensaje de venta: potencia suficiente, sin perder cercania con la operacion real.</a:t>
            </a:r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922A978A-3518-4152-8AC2-3EB671AE593F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0096EAD8-3F9A-45C4-AB4F-B02C43F69260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19AF11F-4A25-43A4-8904-8CC3E30B6680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79949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ángulo 27">
            <a:extLst>
              <a:ext uri="{FF2B5EF4-FFF2-40B4-BE49-F238E27FC236}">
                <a16:creationId xmlns:a16="http://schemas.microsoft.com/office/drawing/2014/main" id="{8286720C-6EF4-4454-BA55-CD483ECB595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3E35F30-7B5D-4CCE-B553-4F58A6E2B6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6E91ED5-704A-49C1-9F4B-E99A39E6CDC1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BB7729D-1218-4593-8E32-764C3BADAAA2}"/>
              </a:ext>
            </a:extLst>
          </p:cNvPr>
          <p:cNvSpPr>
            <a:spLocks noGrp="1"/>
          </p:cNvSpPr>
          <p:nvPr/>
        </p:nvSpPr>
        <p:spPr>
          <a:xfrm>
            <a:off x="666750" y="523875"/>
            <a:ext cx="323850" cy="28575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5E8F02E-62F6-4A00-9F3D-A8B98C4D98F4}"/>
              </a:ext>
            </a:extLst>
          </p:cNvPr>
          <p:cNvSpPr>
            <a:spLocks noGrp="1"/>
          </p:cNvSpPr>
          <p:nvPr/>
        </p:nvSpPr>
        <p:spPr>
          <a:xfrm>
            <a:off x="1104900" y="4381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defRPr sz="975" b="1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727C"/>
                </a:solidFill>
                <a:latin typeface="Aptos"/>
                <a:ea typeface="Aptos"/>
                <a:cs typeface="Aptos"/>
              </a:rPr>
              <a:t>BENEFICIOS POR AREA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D46E673-A0D8-4DD6-9CF7-376EC6869E75}"/>
              </a:ext>
            </a:extLst>
          </p:cNvPr>
          <p:cNvSpPr>
            <a:spLocks noGrp="1"/>
          </p:cNvSpPr>
          <p:nvPr/>
        </p:nvSpPr>
        <p:spPr>
          <a:xfrm>
            <a:off x="666750" y="819150"/>
            <a:ext cx="8763000" cy="1066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85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85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ATM CARGO le da a cada area una razon concreta para adoptarlo.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70ECC07-9FAA-4AF7-A579-F3C0B123A0C6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78105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El comprador no compra software: compra visibilidad, orden y rentabilidad por operacion.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6F6EA851-D8EE-42DB-A580-84C3342B09F3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22669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B22895B-6A18-4429-B5ED-76773C426576}"/>
              </a:ext>
            </a:extLst>
          </p:cNvPr>
          <p:cNvSpPr>
            <a:spLocks noGrp="1"/>
          </p:cNvSpPr>
          <p:nvPr/>
        </p:nvSpPr>
        <p:spPr>
          <a:xfrm>
            <a:off x="876300" y="2990850"/>
            <a:ext cx="47625" cy="14097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5A7DDB-AB7E-4274-9806-3604F58178C4}"/>
              </a:ext>
            </a:extLst>
          </p:cNvPr>
          <p:cNvSpPr>
            <a:spLocks noGrp="1"/>
          </p:cNvSpPr>
          <p:nvPr/>
        </p:nvSpPr>
        <p:spPr>
          <a:xfrm>
            <a:off x="1047750" y="3133725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Direccion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3F5CD4-1F40-4917-A319-19D9A6154134}"/>
              </a:ext>
            </a:extLst>
          </p:cNvPr>
          <p:cNvSpPr>
            <a:spLocks noGrp="1"/>
          </p:cNvSpPr>
          <p:nvPr/>
        </p:nvSpPr>
        <p:spPr>
          <a:xfrm>
            <a:off x="1047750" y="340995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Pipeline, margen, facturado, cobrado y gastos consolidados.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53D22E80-F6B0-4286-8E9D-98890F0B8430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22669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096FC7A-660B-485A-910E-FF68B090BD1A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47625" cy="14097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CC005A3-14D5-4086-94AD-263255C0D0A2}"/>
              </a:ext>
            </a:extLst>
          </p:cNvPr>
          <p:cNvSpPr>
            <a:spLocks noGrp="1"/>
          </p:cNvSpPr>
          <p:nvPr/>
        </p:nvSpPr>
        <p:spPr>
          <a:xfrm>
            <a:off x="3733800" y="3133725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Comercial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3252A72-FC62-41A9-90D8-1CA45219E461}"/>
              </a:ext>
            </a:extLst>
          </p:cNvPr>
          <p:cNvSpPr>
            <a:spLocks noGrp="1"/>
          </p:cNvSpPr>
          <p:nvPr/>
        </p:nvSpPr>
        <p:spPr>
          <a:xfrm>
            <a:off x="3733800" y="340995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Seguimiento, cotizaciones formales y menos recarga manual.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9C0731C-ACF4-4160-8804-4811F3AF8172}"/>
              </a:ext>
            </a:extLst>
          </p:cNvPr>
          <p:cNvSpPr>
            <a:spLocks noGrp="1"/>
          </p:cNvSpPr>
          <p:nvPr/>
        </p:nvSpPr>
        <p:spPr>
          <a:xfrm>
            <a:off x="6248400" y="2990850"/>
            <a:ext cx="22669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EC22715-7D5C-4603-9B82-BE089448F98A}"/>
              </a:ext>
            </a:extLst>
          </p:cNvPr>
          <p:cNvSpPr>
            <a:spLocks noGrp="1"/>
          </p:cNvSpPr>
          <p:nvPr/>
        </p:nvSpPr>
        <p:spPr>
          <a:xfrm>
            <a:off x="6248400" y="2990850"/>
            <a:ext cx="47625" cy="14097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14162D2F-7B9B-40AD-A63C-4BA345DBE2A4}"/>
              </a:ext>
            </a:extLst>
          </p:cNvPr>
          <p:cNvSpPr>
            <a:spLocks noGrp="1"/>
          </p:cNvSpPr>
          <p:nvPr/>
        </p:nvSpPr>
        <p:spPr>
          <a:xfrm>
            <a:off x="6419850" y="3133725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Trafico</a:t>
            </a: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999D644E-677E-42D6-B4B9-BF88F5D82A08}"/>
              </a:ext>
            </a:extLst>
          </p:cNvPr>
          <p:cNvSpPr>
            <a:spLocks noGrp="1"/>
          </p:cNvSpPr>
          <p:nvPr/>
        </p:nvSpPr>
        <p:spPr>
          <a:xfrm>
            <a:off x="6419850" y="340995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Datos logisticos, documentos, fechas, proveedores y reportes.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9C105CA5-5833-49CB-A3D1-4D44DD150800}"/>
              </a:ext>
            </a:extLst>
          </p:cNvPr>
          <p:cNvSpPr>
            <a:spLocks noGrp="1"/>
          </p:cNvSpPr>
          <p:nvPr/>
        </p:nvSpPr>
        <p:spPr>
          <a:xfrm>
            <a:off x="8934450" y="2990850"/>
            <a:ext cx="22669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9D5CB"/>
            </a:solidFill>
            <a:prstDash val="solid"/>
          </a:ln>
        </p:spPr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008F921-F7B2-41F6-B49E-3F56580199AC}"/>
              </a:ext>
            </a:extLst>
          </p:cNvPr>
          <p:cNvSpPr>
            <a:spLocks noGrp="1"/>
          </p:cNvSpPr>
          <p:nvPr/>
        </p:nvSpPr>
        <p:spPr>
          <a:xfrm>
            <a:off x="8934450" y="2990850"/>
            <a:ext cx="47625" cy="1409700"/>
          </a:xfrm>
          <a:prstGeom prst="rect">
            <a:avLst/>
          </a:prstGeom>
          <a:solidFill>
            <a:srgbClr val="D7A44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282DF76-E1D9-4948-A7DB-7D04E0AA92AD}"/>
              </a:ext>
            </a:extLst>
          </p:cNvPr>
          <p:cNvSpPr>
            <a:spLocks noGrp="1"/>
          </p:cNvSpPr>
          <p:nvPr/>
        </p:nvSpPr>
        <p:spPr>
          <a:xfrm>
            <a:off x="9105900" y="3133725"/>
            <a:ext cx="19431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Finanzas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8071D6D-C758-43E7-902B-E70C6C95EB89}"/>
              </a:ext>
            </a:extLst>
          </p:cNvPr>
          <p:cNvSpPr>
            <a:spLocks noGrp="1"/>
          </p:cNvSpPr>
          <p:nvPr/>
        </p:nvSpPr>
        <p:spPr>
          <a:xfrm>
            <a:off x="9105900" y="3409950"/>
            <a:ext cx="1943100" cy="876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13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Facturas, saldos, compras, pagos y cuentas a pagar.</a:t>
            </a:r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001D0D64-3180-47E5-A2FD-57BA8116230A}"/>
              </a:ext>
            </a:extLst>
          </p:cNvPr>
          <p:cNvSpPr>
            <a:spLocks noGrp="1"/>
          </p:cNvSpPr>
          <p:nvPr/>
        </p:nvSpPr>
        <p:spPr>
          <a:xfrm>
            <a:off x="1809750" y="5276850"/>
            <a:ext cx="8191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100" b="0">
                <a:solidFill>
                  <a:srgbClr val="13232F"/>
                </a:solidFill>
                <a:latin typeface="Georgia"/>
                <a:ea typeface="Georgia"/>
                <a:cs typeface="Georgia"/>
              </a:defRPr>
            </a:pPr>
            <a:r>
              <a:rPr sz="2100" b="0">
                <a:solidFill>
                  <a:srgbClr val="13232F"/>
                </a:solidFill>
                <a:latin typeface="Georgia"/>
                <a:ea typeface="Georgia"/>
                <a:cs typeface="Georgia"/>
              </a:rPr>
              <a:t>Cierre comercial: ordenar la agencia hoy para escalar operaciones manana.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0138B597-F0C3-486B-A088-7FFA5944B6B0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D9D5C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148B6BF-34BA-479B-B68D-A284B092A19C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6727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7C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514DBD9E-35B7-4E7A-A347-0C96EEDEA837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13232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232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6136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8546F3AA-430E-44FD-B51E-CFD8BCD6F6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A2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5D306468-D31A-48FB-A708-DEAC3FF21B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85725" cy="68580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ECC532-4447-415C-A4D0-FB403693F463}"/>
              </a:ext>
            </a:extLst>
          </p:cNvPr>
          <p:cNvSpPr>
            <a:spLocks noGrp="1"/>
          </p:cNvSpPr>
          <p:nvPr/>
        </p:nvSpPr>
        <p:spPr>
          <a:xfrm>
            <a:off x="85725" y="0"/>
            <a:ext cx="85725" cy="6858000"/>
          </a:xfrm>
          <a:prstGeom prst="rect">
            <a:avLst/>
          </a:prstGeom>
          <a:solidFill>
            <a:srgbClr val="174A6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6251350A-36E3-4607-B72B-1F27E78E895C}"/>
              </a:ext>
            </a:extLst>
          </p:cNvPr>
          <p:cNvSpPr>
            <a:spLocks noGrp="1"/>
          </p:cNvSpPr>
          <p:nvPr/>
        </p:nvSpPr>
        <p:spPr>
          <a:xfrm>
            <a:off x="819150" y="876300"/>
            <a:ext cx="342900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ATM CARGO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1CEE9F6-C13A-482C-9B6F-752CD3096447}"/>
              </a:ext>
            </a:extLst>
          </p:cNvPr>
          <p:cNvSpPr>
            <a:spLocks noGrp="1"/>
          </p:cNvSpPr>
          <p:nvPr/>
        </p:nvSpPr>
        <p:spPr>
          <a:xfrm>
            <a:off x="819150" y="1524000"/>
            <a:ext cx="857250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750" b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7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Ordenar</a:t>
            </a:r>
            <a:r>
              <a:rPr sz="37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la </a:t>
            </a:r>
            <a:r>
              <a:rPr sz="37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agencia</a:t>
            </a:r>
            <a:r>
              <a:rPr sz="37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hoy, </a:t>
            </a:r>
            <a:r>
              <a:rPr sz="37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escalar</a:t>
            </a:r>
            <a:r>
              <a:rPr sz="37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</a:t>
            </a:r>
            <a:r>
              <a:rPr sz="37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operaciones</a:t>
            </a:r>
            <a:r>
              <a:rPr sz="37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 m</a:t>
            </a:r>
            <a:r>
              <a:rPr lang="es-ES" sz="3750" b="0" dirty="0" err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añ</a:t>
            </a:r>
            <a:r>
              <a:rPr sz="3750" b="0" dirty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ana.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7AC32AA-78B9-434A-8358-AA3069907406}"/>
              </a:ext>
            </a:extLst>
          </p:cNvPr>
          <p:cNvSpPr>
            <a:spLocks noGrp="1"/>
          </p:cNvSpPr>
          <p:nvPr/>
        </p:nvSpPr>
        <p:spPr>
          <a:xfrm>
            <a:off x="857250" y="3105150"/>
            <a:ext cx="809625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C9D7D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C9D7DF"/>
                </a:solidFill>
                <a:latin typeface="Aptos"/>
                <a:ea typeface="Aptos"/>
                <a:cs typeface="Aptos"/>
              </a:rPr>
              <a:t>Una demo comercial debe mostrar una OP real: prospecto, cotizacion, detalle logistico, documentos, cost sheet, factura y profit.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79578F8-A9EE-41C9-868E-D931D0DE3C90}"/>
              </a:ext>
            </a:extLst>
          </p:cNvPr>
          <p:cNvSpPr>
            <a:spLocks noGrp="1"/>
          </p:cNvSpPr>
          <p:nvPr/>
        </p:nvSpPr>
        <p:spPr>
          <a:xfrm>
            <a:off x="819150" y="4171950"/>
            <a:ext cx="9525000" cy="781050"/>
          </a:xfrm>
          <a:prstGeom prst="rect">
            <a:avLst/>
          </a:prstGeom>
          <a:solidFill>
            <a:srgbClr val="132B3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D9125F-B50A-4793-A60A-92FB7C618043}"/>
              </a:ext>
            </a:extLst>
          </p:cNvPr>
          <p:cNvSpPr>
            <a:spLocks noGrp="1"/>
          </p:cNvSpPr>
          <p:nvPr/>
        </p:nvSpPr>
        <p:spPr>
          <a:xfrm>
            <a:off x="1238250" y="4400550"/>
            <a:ext cx="2381250" cy="304800"/>
          </a:xfrm>
          <a:prstGeom prst="rect">
            <a:avLst/>
          </a:prstGeom>
          <a:solidFill>
            <a:srgbClr val="2F6F8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3ED194B8-99D6-4455-BF00-529604715BD2}"/>
              </a:ext>
            </a:extLst>
          </p:cNvPr>
          <p:cNvSpPr>
            <a:spLocks noGrp="1"/>
          </p:cNvSpPr>
          <p:nvPr/>
        </p:nvSpPr>
        <p:spPr>
          <a:xfrm>
            <a:off x="1390650" y="44767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1. Diagnostico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814F751-EBEA-4817-8E35-A5D09FEE39E4}"/>
              </a:ext>
            </a:extLst>
          </p:cNvPr>
          <p:cNvSpPr>
            <a:spLocks noGrp="1"/>
          </p:cNvSpPr>
          <p:nvPr/>
        </p:nvSpPr>
        <p:spPr>
          <a:xfrm>
            <a:off x="4191000" y="4400550"/>
            <a:ext cx="2381250" cy="304800"/>
          </a:xfrm>
          <a:prstGeom prst="rect">
            <a:avLst/>
          </a:prstGeom>
          <a:solidFill>
            <a:srgbClr val="D46A3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4FA7CEF-465E-4819-B865-196DE5BFE40E}"/>
              </a:ext>
            </a:extLst>
          </p:cNvPr>
          <p:cNvSpPr>
            <a:spLocks noGrp="1"/>
          </p:cNvSpPr>
          <p:nvPr/>
        </p:nvSpPr>
        <p:spPr>
          <a:xfrm>
            <a:off x="4343400" y="44767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2. Parametros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D8106C07-338D-4AD5-90C1-084CB5D7F6AB}"/>
              </a:ext>
            </a:extLst>
          </p:cNvPr>
          <p:cNvSpPr>
            <a:spLocks noGrp="1"/>
          </p:cNvSpPr>
          <p:nvPr/>
        </p:nvSpPr>
        <p:spPr>
          <a:xfrm>
            <a:off x="7143750" y="4400550"/>
            <a:ext cx="2381250" cy="304800"/>
          </a:xfrm>
          <a:prstGeom prst="rect">
            <a:avLst/>
          </a:prstGeom>
          <a:solidFill>
            <a:srgbClr val="3A7D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5CF1D6F-5508-40DF-B0F2-B013B0C066CD}"/>
              </a:ext>
            </a:extLst>
          </p:cNvPr>
          <p:cNvSpPr>
            <a:spLocks noGrp="1"/>
          </p:cNvSpPr>
          <p:nvPr/>
        </p:nvSpPr>
        <p:spPr>
          <a:xfrm>
            <a:off x="7296150" y="4476750"/>
            <a:ext cx="2000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3. Demo con OP real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8B245BF4-784B-4F5E-80D9-635D34DC31BE}"/>
              </a:ext>
            </a:extLst>
          </p:cNvPr>
          <p:cNvSpPr>
            <a:spLocks noGrp="1"/>
          </p:cNvSpPr>
          <p:nvPr/>
        </p:nvSpPr>
        <p:spPr>
          <a:xfrm>
            <a:off x="666750" y="6191250"/>
            <a:ext cx="88582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Deck enfocado en la operacion comercial, logistica, documental y financiera de ATM CARGO.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B99B6E4-E92F-4EE2-8CEC-34F26DA8AC48}"/>
              </a:ext>
            </a:extLst>
          </p:cNvPr>
          <p:cNvSpPr>
            <a:spLocks noGrp="1"/>
          </p:cNvSpPr>
          <p:nvPr/>
        </p:nvSpPr>
        <p:spPr>
          <a:xfrm>
            <a:off x="666750" y="6419850"/>
            <a:ext cx="9906000" cy="9525"/>
          </a:xfrm>
          <a:prstGeom prst="rect">
            <a:avLst/>
          </a:prstGeom>
          <a:solidFill>
            <a:srgbClr val="2C3A4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72351022-C5D4-4DFE-89B3-A7AC682B784E}"/>
              </a:ext>
            </a:extLst>
          </p:cNvPr>
          <p:cNvSpPr>
            <a:spLocks noGrp="1"/>
          </p:cNvSpPr>
          <p:nvPr/>
        </p:nvSpPr>
        <p:spPr>
          <a:xfrm>
            <a:off x="666750" y="6534150"/>
            <a:ext cx="5905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8FA3B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8FA3B0"/>
                </a:solidFill>
                <a:latin typeface="Aptos"/>
                <a:ea typeface="Aptos"/>
                <a:cs typeface="Aptos"/>
              </a:rPr>
              <a:t>ATM CARGO | Presentacion comercial para agencias de carga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93C1C00E-7CA9-436A-8CB4-01C02E5F8E81}"/>
              </a:ext>
            </a:extLst>
          </p:cNvPr>
          <p:cNvSpPr>
            <a:spLocks noGrp="1"/>
          </p:cNvSpPr>
          <p:nvPr/>
        </p:nvSpPr>
        <p:spPr>
          <a:xfrm>
            <a:off x="10820400" y="6496050"/>
            <a:ext cx="704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1200" b="1">
                <a:solidFill>
                  <a:srgbClr val="E9F1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9F1F5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9713831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1171</Words>
  <Application>Microsoft Office PowerPoint</Application>
  <DocSecurity>0</DocSecurity>
  <PresentationFormat>Panorámica</PresentationFormat>
  <Paragraphs>175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Calibri</vt:lpstr>
      <vt:lpstr>Georgia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Rodrigo Robadin Grupo ATM</cp:lastModifiedBy>
  <cp:revision>1</cp:revision>
  <dcterms:created xsi:type="dcterms:W3CDTF">2026-05-25T14:41:21Z</dcterms:created>
  <dcterms:modified xsi:type="dcterms:W3CDTF">2026-05-25T21:20:18Z</dcterms:modified>
</cp:coreProperties>
</file>